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15"/>
  </p:notesMasterIdLst>
  <p:sldIdLst>
    <p:sldId id="256" r:id="rId2"/>
    <p:sldId id="257" r:id="rId3"/>
    <p:sldId id="258" r:id="rId4"/>
    <p:sldId id="259" r:id="rId5"/>
    <p:sldId id="278" r:id="rId6"/>
    <p:sldId id="261" r:id="rId7"/>
    <p:sldId id="263" r:id="rId8"/>
    <p:sldId id="264" r:id="rId9"/>
    <p:sldId id="269" r:id="rId10"/>
    <p:sldId id="275" r:id="rId11"/>
    <p:sldId id="276" r:id="rId12"/>
    <p:sldId id="273" r:id="rId13"/>
    <p:sldId id="274" r:id="rId14"/>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EEE8"/>
    <a:srgbClr val="F3F0E8"/>
    <a:srgbClr val="09183D"/>
    <a:srgbClr val="F2F1EB"/>
    <a:srgbClr val="F1F1EC"/>
    <a:srgbClr val="0C1A3C"/>
    <a:srgbClr val="F5F6F8"/>
    <a:srgbClr val="F2F1EC"/>
    <a:srgbClr val="0A183D"/>
    <a:srgbClr val="F1F0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סגנון ביניים 2 - הדגשה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3994" autoAdjust="0"/>
    <p:restoredTop sz="76496" autoAdjust="0"/>
  </p:normalViewPr>
  <p:slideViewPr>
    <p:cSldViewPr snapToGrid="0">
      <p:cViewPr varScale="1">
        <p:scale>
          <a:sx n="67" d="100"/>
          <a:sy n="67" d="100"/>
        </p:scale>
        <p:origin x="1011"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2D736377-ED1E-4FCF-B02A-5E2D15393268}" type="datetimeFigureOut">
              <a:rPr lang="he-IL" smtClean="0"/>
              <a:t>י"ט/טבת/תשפ"ו</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65052F29-866E-46E3-83BD-D2454490092E}" type="slidenum">
              <a:rPr lang="he-IL" smtClean="0"/>
              <a:t>‹#›</a:t>
            </a:fld>
            <a:endParaRPr lang="he-IL"/>
          </a:p>
        </p:txBody>
      </p:sp>
    </p:spTree>
    <p:extLst>
      <p:ext uri="{BB962C8B-B14F-4D97-AF65-F5344CB8AC3E}">
        <p14:creationId xmlns:p14="http://schemas.microsoft.com/office/powerpoint/2010/main" val="1245311692"/>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he-IL" b="1" dirty="0"/>
              <a:t>מה להגיד (התסריט):</a:t>
            </a:r>
            <a:r>
              <a:rPr lang="he-IL" dirty="0"/>
              <a:t> "הבעיה שבחרנו להתמודד איתה נוגעת לכיס של כולנו. שוק התעופה הוא שוק מוזר: מצד אחד יש תחרות אגרסיבית, ומצד שני יש חברות ענק ששולטות בקווים מסוימים כמעט כמו מונופול. השאלה הגדולה ששאלנו היא: האם הכוח הזה מתורגם למחיר יקר יותר? כלומר, האם כשאני טס עם 'החברה הגדולה', אני בהכרח משלם 'קנס מונופול', או שאולי היתרון לגודל דווקא מוזיל את הכרטיס? התשובה לשאלה הזו קריטית גם למנהלי החברות שקובעים מחירים, וגם לרגולטורים שרוצים לשמור על תחרות הוגנת."</a:t>
            </a:r>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2</a:t>
            </a:fld>
            <a:endParaRPr lang="he-IL"/>
          </a:p>
        </p:txBody>
      </p:sp>
    </p:spTree>
    <p:extLst>
      <p:ext uri="{BB962C8B-B14F-4D97-AF65-F5344CB8AC3E}">
        <p14:creationId xmlns:p14="http://schemas.microsoft.com/office/powerpoint/2010/main" val="4114484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he-IL" b="1" dirty="0"/>
              <a:t>מה להגיד (התסריט):</a:t>
            </a:r>
            <a:r>
              <a:rPr lang="he-IL" dirty="0"/>
              <a:t> "המטרה שלנו לא הייתה רק להשיג 'ציון דיוק' גבוה, אלא לייצר ערך עסקי. הגדרנו שלוש מטרות לפרויקט:</a:t>
            </a:r>
          </a:p>
          <a:p>
            <a:r>
              <a:rPr lang="he-IL" b="1" dirty="0"/>
              <a:t>חיזוי מדויק:</a:t>
            </a:r>
            <a:r>
              <a:rPr lang="he-IL" dirty="0"/>
              <a:t> לבנות מודל שידע להגיד בביטחון גבוה האם המוביל יהיה הזול ביותר.</a:t>
            </a:r>
          </a:p>
          <a:p>
            <a:r>
              <a:rPr lang="he-IL" b="1" dirty="0"/>
              <a:t>הסברתיות (</a:t>
            </a:r>
            <a:r>
              <a:rPr lang="en-US" b="1" dirty="0"/>
              <a:t>Explainability):</a:t>
            </a:r>
            <a:r>
              <a:rPr lang="en-US" dirty="0"/>
              <a:t> </a:t>
            </a:r>
            <a:r>
              <a:rPr lang="he-IL" dirty="0"/>
              <a:t>לא רצינו 'קופסה שחורה'. היה חשוב לנו להבין </a:t>
            </a:r>
            <a:r>
              <a:rPr lang="he-IL" i="1" dirty="0"/>
              <a:t>למה</a:t>
            </a:r>
            <a:r>
              <a:rPr lang="he-IL" dirty="0"/>
              <a:t> המודל החליט מה שהחליט, באילו תנאים המחיר עולה ובאילו הוא יורד.</a:t>
            </a:r>
          </a:p>
          <a:p>
            <a:r>
              <a:rPr lang="he-IL" b="1" dirty="0"/>
              <a:t>ניתוח שוק:</a:t>
            </a:r>
            <a:r>
              <a:rPr lang="he-IL" dirty="0"/>
              <a:t> להשתמש בלמידה לא-מפוקחת כדי לזהות דפוסים נסתרים ולפלח את השוק לסוגים שונים של תחרות."</a:t>
            </a:r>
          </a:p>
          <a:p>
            <a:endParaRPr lang="he-IL" dirty="0"/>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3</a:t>
            </a:fld>
            <a:endParaRPr lang="he-IL"/>
          </a:p>
        </p:txBody>
      </p:sp>
    </p:spTree>
    <p:extLst>
      <p:ext uri="{BB962C8B-B14F-4D97-AF65-F5344CB8AC3E}">
        <p14:creationId xmlns:p14="http://schemas.microsoft.com/office/powerpoint/2010/main" val="10675291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he-IL" b="1" dirty="0"/>
              <a:t>מה להגיד (תסריט):</a:t>
            </a:r>
            <a:r>
              <a:rPr lang="he-IL" dirty="0"/>
              <a:t> "הדאטה שלנו מבוסס על נתוני אמת של משרד התחבורה האמריקאי (</a:t>
            </a:r>
            <a:r>
              <a:rPr lang="en-US" dirty="0"/>
              <a:t>BTS), </a:t>
            </a:r>
            <a:r>
              <a:rPr lang="he-IL" dirty="0"/>
              <a:t>עם למעלה מ-250,000 רשומות. חילקנו את הנתונים לארבעה רבדים: מאפייני הטיסה (כמו מרחק), נתוני ביקוש, מחירים ומבנה השוק. נקודה קריטית בתהליך הייתה </a:t>
            </a:r>
            <a:r>
              <a:rPr lang="he-IL" b="1" dirty="0"/>
              <a:t>מניעת זליגת מידע (</a:t>
            </a:r>
            <a:r>
              <a:rPr lang="en-US" b="1" dirty="0"/>
              <a:t>Data Leakage)</a:t>
            </a:r>
            <a:r>
              <a:rPr lang="en-US" dirty="0"/>
              <a:t>: </a:t>
            </a:r>
            <a:r>
              <a:rPr lang="he-IL" dirty="0"/>
              <a:t>נזהרנו מאוד לא להכניס למודל משתנים שמגלים לו את התשובה מראש (כמו 'הפרש המחיר'), אלא השתמשנו רק בנתונים שזמינים למקבל ההחלטות בזמן אמת."</a:t>
            </a:r>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4</a:t>
            </a:fld>
            <a:endParaRPr lang="he-IL"/>
          </a:p>
        </p:txBody>
      </p:sp>
    </p:spTree>
    <p:extLst>
      <p:ext uri="{BB962C8B-B14F-4D97-AF65-F5344CB8AC3E}">
        <p14:creationId xmlns:p14="http://schemas.microsoft.com/office/powerpoint/2010/main" val="7147786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8A1025-5CD2-450A-2D96-7337B2E42840}"/>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567A13AB-F280-D150-937D-0AEEA3A5AAE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59CF7FD-D55B-403A-F7AD-733FE1876342}"/>
              </a:ext>
            </a:extLst>
          </p:cNvPr>
          <p:cNvSpPr>
            <a:spLocks noGrp="1"/>
          </p:cNvSpPr>
          <p:nvPr>
            <p:ph type="body" idx="1"/>
          </p:nvPr>
        </p:nvSpPr>
        <p:spPr/>
        <p:txBody>
          <a:bodyPr/>
          <a:lstStyle/>
          <a:p>
            <a:endParaRPr lang="he-IL" dirty="0"/>
          </a:p>
        </p:txBody>
      </p:sp>
      <p:sp>
        <p:nvSpPr>
          <p:cNvPr id="4" name="מציין מיקום של מספר שקופית 3">
            <a:extLst>
              <a:ext uri="{FF2B5EF4-FFF2-40B4-BE49-F238E27FC236}">
                <a16:creationId xmlns:a16="http://schemas.microsoft.com/office/drawing/2014/main" id="{8F1BA6F9-6AA2-0DBD-B2B3-E7EE23F6FED7}"/>
              </a:ext>
            </a:extLst>
          </p:cNvPr>
          <p:cNvSpPr>
            <a:spLocks noGrp="1"/>
          </p:cNvSpPr>
          <p:nvPr>
            <p:ph type="sldNum" sz="quarter" idx="5"/>
          </p:nvPr>
        </p:nvSpPr>
        <p:spPr/>
        <p:txBody>
          <a:bodyPr/>
          <a:lstStyle/>
          <a:p>
            <a:pPr marL="0" marR="0" lvl="0" indent="0" algn="l" defTabSz="914400" rtl="1" eaLnBrk="1" fontAlgn="auto" latinLnBrk="0" hangingPunct="1">
              <a:lnSpc>
                <a:spcPct val="100000"/>
              </a:lnSpc>
              <a:spcBef>
                <a:spcPts val="0"/>
              </a:spcBef>
              <a:spcAft>
                <a:spcPts val="0"/>
              </a:spcAft>
              <a:buClrTx/>
              <a:buSzTx/>
              <a:buFontTx/>
              <a:buNone/>
              <a:tabLst/>
              <a:defRPr/>
            </a:pPr>
            <a:fld id="{65052F29-866E-46E3-83BD-D2454490092E}" type="slidenum">
              <a:rPr kumimoji="0" lang="he-IL"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l" defTabSz="914400" rtl="1" eaLnBrk="1" fontAlgn="auto" latinLnBrk="0" hangingPunct="1">
                <a:lnSpc>
                  <a:spcPct val="100000"/>
                </a:lnSpc>
                <a:spcBef>
                  <a:spcPts val="0"/>
                </a:spcBef>
                <a:spcAft>
                  <a:spcPts val="0"/>
                </a:spcAft>
                <a:buClrTx/>
                <a:buSzTx/>
                <a:buFontTx/>
                <a:buNone/>
                <a:tabLst/>
                <a:defRPr/>
              </a:pPr>
              <a:t>5</a:t>
            </a:fld>
            <a:endParaRPr kumimoji="0" lang="he-IL"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14358278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he-IL" dirty="0"/>
              <a:t>להוסיף-מתודולוגיה: שמות אלגוריתמים וטכניקות ומדוע חשבת בתחילה שהם מתאימים למשימה שלפניכם- לפי מה שרשמנו בדוח הראשוני</a:t>
            </a:r>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6</a:t>
            </a:fld>
            <a:endParaRPr lang="he-IL"/>
          </a:p>
        </p:txBody>
      </p:sp>
    </p:spTree>
    <p:extLst>
      <p:ext uri="{BB962C8B-B14F-4D97-AF65-F5344CB8AC3E}">
        <p14:creationId xmlns:p14="http://schemas.microsoft.com/office/powerpoint/2010/main" val="524447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he-IL" b="1" dirty="0"/>
              <a:t>מה להגיד:</a:t>
            </a:r>
            <a:r>
              <a:rPr lang="he-IL" dirty="0"/>
              <a:t> "כדי למדוד את ההצלחה שלנו בצורה הוגנת, לא הסתמכנו רק על 'דיוק' (</a:t>
            </a:r>
            <a:r>
              <a:rPr lang="en-US" dirty="0"/>
              <a:t>Accuracy). </a:t>
            </a:r>
            <a:r>
              <a:rPr lang="he-IL" dirty="0"/>
              <a:t>בחרנו ב-</a:t>
            </a:r>
            <a:r>
              <a:rPr lang="en-US" b="1" dirty="0"/>
              <a:t>F1-Score</a:t>
            </a:r>
            <a:r>
              <a:rPr lang="en-US" dirty="0"/>
              <a:t> </a:t>
            </a:r>
            <a:r>
              <a:rPr lang="he-IL" dirty="0"/>
              <a:t>כמדד המוביל, כי הוא משקלל גם את הדיוק (</a:t>
            </a:r>
            <a:r>
              <a:rPr lang="en-US" dirty="0"/>
              <a:t>Precision) </a:t>
            </a:r>
            <a:r>
              <a:rPr lang="he-IL" dirty="0"/>
              <a:t>וגם את הרגישות (</a:t>
            </a:r>
            <a:r>
              <a:rPr lang="en-US" dirty="0"/>
              <a:t>Recall). </a:t>
            </a:r>
            <a:r>
              <a:rPr lang="he-IL" dirty="0"/>
              <a:t>זה קריטי בדאטה שלנו, כי אנחנו רוצים להימנע ממצב שהמודל סתם מנחש את הרוב. בנוסף, הקפדנו על חלוקה מדורגת (</a:t>
            </a:r>
            <a:r>
              <a:rPr lang="en-US" b="1" dirty="0"/>
              <a:t>Stratified Split</a:t>
            </a:r>
            <a:r>
              <a:rPr lang="en-US" dirty="0"/>
              <a:t>) </a:t>
            </a:r>
            <a:r>
              <a:rPr lang="he-IL" dirty="0"/>
              <a:t>כדי לשמור על אותו יחס של דוגמאות חיוביות ושליליות גם באימון וגם בבדיקה."</a:t>
            </a:r>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7</a:t>
            </a:fld>
            <a:endParaRPr lang="he-IL"/>
          </a:p>
        </p:txBody>
      </p:sp>
    </p:spTree>
    <p:extLst>
      <p:ext uri="{BB962C8B-B14F-4D97-AF65-F5344CB8AC3E}">
        <p14:creationId xmlns:p14="http://schemas.microsoft.com/office/powerpoint/2010/main" val="6489334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b="1" dirty="0"/>
              <a:t>מה להגיד:</a:t>
            </a:r>
            <a:r>
              <a:rPr lang="he-IL" dirty="0"/>
              <a:t> "כאן אפשר לראות את התוצאות ראש בראש. הטבלה מספרת סיפור ברור: המודלים הליניאריים (למטה באדום/כחול) נכשלו עם ציונים נמוכים יחסית. לעומת זאת, המודלים מבוססי-העצים (</a:t>
            </a:r>
            <a:r>
              <a:rPr lang="en-US" b="1" dirty="0"/>
              <a:t>Random Forest </a:t>
            </a:r>
            <a:r>
              <a:rPr lang="he-IL" b="1" dirty="0"/>
              <a:t>ו-</a:t>
            </a:r>
            <a:r>
              <a:rPr lang="en-US" b="1" dirty="0" err="1"/>
              <a:t>XGBoost</a:t>
            </a:r>
            <a:r>
              <a:rPr lang="en-US" dirty="0"/>
              <a:t>) </a:t>
            </a:r>
            <a:r>
              <a:rPr lang="he-IL" dirty="0"/>
              <a:t>השיגו קפיצת מדרגה בביצועים. המנצח הגדול הוא ה-</a:t>
            </a:r>
            <a:r>
              <a:rPr lang="en-US" b="1" dirty="0"/>
              <a:t>Random Forest </a:t>
            </a:r>
            <a:r>
              <a:rPr lang="he-IL" b="1" dirty="0"/>
              <a:t>המכוונן</a:t>
            </a:r>
            <a:r>
              <a:rPr lang="he-IL" dirty="0"/>
              <a:t>, שהצליח להגיע לדיוק הגבוה ביותר וגם, כפי שציינו קודם, קיצר משמעותית את זמן הריצה."</a:t>
            </a:r>
          </a:p>
          <a:p>
            <a:endParaRPr lang="he-IL" dirty="0"/>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8</a:t>
            </a:fld>
            <a:endParaRPr lang="he-IL"/>
          </a:p>
        </p:txBody>
      </p:sp>
    </p:spTree>
    <p:extLst>
      <p:ext uri="{BB962C8B-B14F-4D97-AF65-F5344CB8AC3E}">
        <p14:creationId xmlns:p14="http://schemas.microsoft.com/office/powerpoint/2010/main" val="17007823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he-IL" b="1" dirty="0"/>
              <a:t>מה להגיד (תעברי גרף-גרף בקצרה):</a:t>
            </a:r>
            <a:r>
              <a:rPr lang="he-IL" dirty="0"/>
              <a:t> "בואו נצלול לביצועים של המודל המנצח:</a:t>
            </a:r>
          </a:p>
          <a:p>
            <a:r>
              <a:rPr lang="he-IL" b="1" dirty="0"/>
              <a:t>מטריצת הבלבול (שמאל למעלה):</a:t>
            </a:r>
            <a:r>
              <a:rPr lang="he-IL" dirty="0"/>
              <a:t> אנחנו רואים איזון יפה באלכסון. המודל מצליח לזהות נכון גם את המקרים ה'יקרים' וגם את ה'זולים', בלי הטיה חזקה לצד אחד.</a:t>
            </a:r>
          </a:p>
          <a:p>
            <a:r>
              <a:rPr lang="he-IL" b="1" dirty="0"/>
              <a:t>עקומת ה-</a:t>
            </a:r>
            <a:r>
              <a:rPr lang="en-US" b="1" dirty="0"/>
              <a:t>ROC (</a:t>
            </a:r>
            <a:r>
              <a:rPr lang="he-IL" b="1" dirty="0"/>
              <a:t>ימין למעלה):</a:t>
            </a:r>
            <a:r>
              <a:rPr lang="he-IL" dirty="0"/>
              <a:t> הקו המודגש הוא המודל שלנו. העובדה שהוא 'נדבק' לפינה השמאלית העליונה (עם שטח של 0.836) מוכיחה שיכולת ההפרדה שלו מעולה.</a:t>
            </a:r>
          </a:p>
          <a:p>
            <a:r>
              <a:rPr lang="he-IL" b="1" dirty="0"/>
              <a:t>גרף המדדים (למטה):</a:t>
            </a:r>
            <a:r>
              <a:rPr lang="he-IL" dirty="0"/>
              <a:t> אנחנו רואים יציבות – כל המדדים (</a:t>
            </a:r>
            <a:r>
              <a:rPr lang="en-US" dirty="0"/>
              <a:t>F1, AUC, Accuracy) </a:t>
            </a:r>
            <a:r>
              <a:rPr lang="he-IL" dirty="0"/>
              <a:t>גבוהים ואחידים, מה שמעיד על מודל אמין לשימוש בעולם האמיתי."</a:t>
            </a:r>
          </a:p>
          <a:p>
            <a:endParaRPr lang="he-IL" dirty="0"/>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9</a:t>
            </a:fld>
            <a:endParaRPr lang="he-IL"/>
          </a:p>
        </p:txBody>
      </p:sp>
    </p:spTree>
    <p:extLst>
      <p:ext uri="{BB962C8B-B14F-4D97-AF65-F5344CB8AC3E}">
        <p14:creationId xmlns:p14="http://schemas.microsoft.com/office/powerpoint/2010/main" val="25208046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endParaRPr lang="he-IL" dirty="0"/>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10</a:t>
            </a:fld>
            <a:endParaRPr lang="he-IL"/>
          </a:p>
        </p:txBody>
      </p:sp>
    </p:spTree>
    <p:extLst>
      <p:ext uri="{BB962C8B-B14F-4D97-AF65-F5344CB8AC3E}">
        <p14:creationId xmlns:p14="http://schemas.microsoft.com/office/powerpoint/2010/main" val="18243470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endParaRPr lang="he-IL" dirty="0"/>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11</a:t>
            </a:fld>
            <a:endParaRPr lang="he-IL"/>
          </a:p>
        </p:txBody>
      </p:sp>
    </p:spTree>
    <p:extLst>
      <p:ext uri="{BB962C8B-B14F-4D97-AF65-F5344CB8AC3E}">
        <p14:creationId xmlns:p14="http://schemas.microsoft.com/office/powerpoint/2010/main" val="35028362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he-IL" b="1" dirty="0"/>
              <a:t>מה להגיד (התסריט):</a:t>
            </a:r>
          </a:p>
          <a:p>
            <a:r>
              <a:rPr lang="he-IL" dirty="0"/>
              <a:t>"בחלק הזה ניתחנו את ההבדלים בין השיטות השונות כדי להבין מה עובד ולמה:</a:t>
            </a:r>
          </a:p>
          <a:p>
            <a:r>
              <a:rPr lang="he-IL" b="1" dirty="0"/>
              <a:t>בקרב בין ליניארי ללא-ליניארי:</a:t>
            </a:r>
            <a:r>
              <a:rPr lang="he-IL" dirty="0"/>
              <a:t> המודלים הפשוטים נתקעו בתקרת זכוכית של 0.66. המעבר לעצים (</a:t>
            </a:r>
            <a:r>
              <a:rPr lang="en-US" dirty="0"/>
              <a:t>Random Forest) </a:t>
            </a:r>
            <a:r>
              <a:rPr lang="he-IL" dirty="0"/>
              <a:t>הקפיץ את הציון מעל 0.72. זה מוכיח מתמטית שהשוק הזה מורכב ואי אפשר לפתור אותו במשוואה ליניארית פשוטה.</a:t>
            </a:r>
          </a:p>
          <a:p>
            <a:r>
              <a:rPr lang="he-IL" b="1" dirty="0"/>
              <a:t>לגבי האופטימיזציה:</a:t>
            </a:r>
            <a:r>
              <a:rPr lang="he-IL" dirty="0"/>
              <a:t> ראינו שהמודל המכוונן נתן תוצאה כמעט זהה למודל הבסיס. במקום להתאכזב, הבנו שזה סימן חיובי – זה אומר שהגענו למיצוי מלא של המידע בדאטה, והמודל שלנו יציב מאוד ולא דורש 'קסמים' כדי לעבוד.</a:t>
            </a:r>
          </a:p>
          <a:p>
            <a:r>
              <a:rPr lang="he-IL" b="1" dirty="0"/>
              <a:t>הניסוי המעניין:</a:t>
            </a:r>
            <a:r>
              <a:rPr lang="he-IL" dirty="0"/>
              <a:t> ניסינו 'לגלות' למודל את סוגי השווקים שמצאנו ב-</a:t>
            </a:r>
            <a:r>
              <a:rPr lang="en-US" dirty="0"/>
              <a:t>K-Means. </a:t>
            </a:r>
            <a:r>
              <a:rPr lang="he-IL" dirty="0"/>
              <a:t>זה לא שיפר את התוצאה, וזה הוכיח לנו שה-</a:t>
            </a:r>
            <a:r>
              <a:rPr lang="en-US" dirty="0"/>
              <a:t>Random Forest </a:t>
            </a:r>
            <a:r>
              <a:rPr lang="he-IL" dirty="0"/>
              <a:t>מספיק חכם כדי ללמוד את המבנה העסקי של השוק בעצמו."</a:t>
            </a:r>
          </a:p>
          <a:p>
            <a:endParaRPr lang="he-IL" dirty="0"/>
          </a:p>
          <a:p>
            <a:endParaRPr lang="he-IL" dirty="0"/>
          </a:p>
        </p:txBody>
      </p:sp>
      <p:sp>
        <p:nvSpPr>
          <p:cNvPr id="4" name="מציין מיקום של מספר שקופית 3"/>
          <p:cNvSpPr>
            <a:spLocks noGrp="1"/>
          </p:cNvSpPr>
          <p:nvPr>
            <p:ph type="sldNum" sz="quarter" idx="5"/>
          </p:nvPr>
        </p:nvSpPr>
        <p:spPr/>
        <p:txBody>
          <a:bodyPr/>
          <a:lstStyle/>
          <a:p>
            <a:fld id="{65052F29-866E-46E3-83BD-D2454490092E}" type="slidenum">
              <a:rPr lang="he-IL" smtClean="0"/>
              <a:t>12</a:t>
            </a:fld>
            <a:endParaRPr lang="he-IL"/>
          </a:p>
        </p:txBody>
      </p:sp>
    </p:spTree>
    <p:extLst>
      <p:ext uri="{BB962C8B-B14F-4D97-AF65-F5344CB8AC3E}">
        <p14:creationId xmlns:p14="http://schemas.microsoft.com/office/powerpoint/2010/main" val="24633319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59F89-1F14-A13A-492D-3A80BE480D5B}"/>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9D030C3-24C7-E437-5E61-6E5E0F5C76B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4C73689D-D6CA-EE3D-51E9-5193953355B2}"/>
              </a:ext>
            </a:extLst>
          </p:cNvPr>
          <p:cNvSpPr>
            <a:spLocks noGrp="1"/>
          </p:cNvSpPr>
          <p:nvPr>
            <p:ph type="body" idx="1"/>
          </p:nvPr>
        </p:nvSpPr>
        <p:spPr/>
        <p:txBody>
          <a:bodyPr/>
          <a:lstStyle/>
          <a:p>
            <a:r>
              <a:rPr lang="he-IL" b="1" dirty="0"/>
              <a:t>מה להגיד :</a:t>
            </a:r>
          </a:p>
          <a:p>
            <a:r>
              <a:rPr lang="he-IL" dirty="0"/>
              <a:t>בשורה התחתונה: הוכחנו שאפשר לחזות את התנהגות השוק בדיוק גבוה, אבל רק אם משתמשים במודלים חכמים (כמו </a:t>
            </a:r>
            <a:r>
              <a:rPr lang="en-US" dirty="0"/>
              <a:t>Random Forest) </a:t>
            </a:r>
            <a:r>
              <a:rPr lang="he-IL" dirty="0"/>
              <a:t>ולא במשוואות פשוטות. התגלית הגדולה שלנו היא ש</a:t>
            </a:r>
            <a:r>
              <a:rPr lang="he-IL" b="1" dirty="0"/>
              <a:t>נתח שוק הוא המלך</a:t>
            </a:r>
            <a:r>
              <a:rPr lang="he-IL" dirty="0"/>
              <a:t> – הוא הגורם היחיד שממש קובע את המחיר. בפרויקט הבא, היינו רוצים לקחת את זה צעד קדימה ולחזות לא רק 'מי יותר זול', אלא </a:t>
            </a:r>
            <a:r>
              <a:rPr lang="he-IL" b="1" dirty="0"/>
              <a:t>בכמה</a:t>
            </a:r>
            <a:r>
              <a:rPr lang="he-IL" dirty="0"/>
              <a:t> בדיוק.</a:t>
            </a:r>
          </a:p>
          <a:p>
            <a:endParaRPr lang="he-IL" dirty="0"/>
          </a:p>
        </p:txBody>
      </p:sp>
      <p:sp>
        <p:nvSpPr>
          <p:cNvPr id="4" name="מציין מיקום של מספר שקופית 3">
            <a:extLst>
              <a:ext uri="{FF2B5EF4-FFF2-40B4-BE49-F238E27FC236}">
                <a16:creationId xmlns:a16="http://schemas.microsoft.com/office/drawing/2014/main" id="{963F9B71-4EF5-D30E-3D1E-C792C2F8DC70}"/>
              </a:ext>
            </a:extLst>
          </p:cNvPr>
          <p:cNvSpPr>
            <a:spLocks noGrp="1"/>
          </p:cNvSpPr>
          <p:nvPr>
            <p:ph type="sldNum" sz="quarter" idx="5"/>
          </p:nvPr>
        </p:nvSpPr>
        <p:spPr/>
        <p:txBody>
          <a:bodyPr/>
          <a:lstStyle/>
          <a:p>
            <a:fld id="{65052F29-866E-46E3-83BD-D2454490092E}" type="slidenum">
              <a:rPr lang="he-IL" smtClean="0"/>
              <a:t>13</a:t>
            </a:fld>
            <a:endParaRPr lang="he-IL"/>
          </a:p>
        </p:txBody>
      </p:sp>
    </p:spTree>
    <p:extLst>
      <p:ext uri="{BB962C8B-B14F-4D97-AF65-F5344CB8AC3E}">
        <p14:creationId xmlns:p14="http://schemas.microsoft.com/office/powerpoint/2010/main" val="13978028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E8675ED7-04E3-83FF-7115-3A8AA16EDB62}"/>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00A06C92-EFE9-5BDF-286A-B064A7314D1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746C0584-A62A-CED1-B7C9-756B73FD5F69}"/>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5" name="מציין מיקום של כותרת תחתונה 4">
            <a:extLst>
              <a:ext uri="{FF2B5EF4-FFF2-40B4-BE49-F238E27FC236}">
                <a16:creationId xmlns:a16="http://schemas.microsoft.com/office/drawing/2014/main" id="{8403987D-1901-A130-A18E-20E43C273E13}"/>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7EA7B344-971F-DB30-6049-6D1A0AAFF115}"/>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28277295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BFFC164-85EF-579B-6BEA-2FCAB40EC8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C801417C-034C-F0EF-D8A5-CFAAB0F1403A}"/>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0B30F5F1-6117-CA4F-C925-D903872A1742}"/>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5" name="מציין מיקום של כותרת תחתונה 4">
            <a:extLst>
              <a:ext uri="{FF2B5EF4-FFF2-40B4-BE49-F238E27FC236}">
                <a16:creationId xmlns:a16="http://schemas.microsoft.com/office/drawing/2014/main" id="{A815F533-707C-41FB-05FB-622E633A057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2E46BC3D-1198-DE37-7EB9-D48E427737C3}"/>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19195539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94C14B4-60CD-6241-7943-96932C303D87}"/>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C84BBB19-4F4D-00A1-AD37-F6E3B405895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4EA03FB5-ABBA-A4A3-34B3-D69DC6496EB7}"/>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5" name="מציין מיקום של כותרת תחתונה 4">
            <a:extLst>
              <a:ext uri="{FF2B5EF4-FFF2-40B4-BE49-F238E27FC236}">
                <a16:creationId xmlns:a16="http://schemas.microsoft.com/office/drawing/2014/main" id="{6ACDE9E6-6DF5-06F4-659B-ACB46F246CE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662CE7C-B8DF-AAEC-4DAA-53643517452D}"/>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41495784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E9F346D3-7D0B-24AE-B1CF-9B734B71455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C0798A64-ABD6-6937-BB7D-E3E116854121}"/>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99B434BD-DEAD-9FEF-2344-F4FD5A45BD7C}"/>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92D1F46E-2C20-146A-EE9D-3288D34F2F51}"/>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6" name="מציין מיקום של כותרת תחתונה 5">
            <a:extLst>
              <a:ext uri="{FF2B5EF4-FFF2-40B4-BE49-F238E27FC236}">
                <a16:creationId xmlns:a16="http://schemas.microsoft.com/office/drawing/2014/main" id="{AB1FA5F6-2C71-0A21-2E59-44AA4A31281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5C3C7D8-A168-DA82-C8A3-0F7D685B7D1B}"/>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1874502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29317D6-CD44-8F44-CC25-C7E77A519072}"/>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8BCE44-C9ED-987A-EAD5-0941FBFAF3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6366811D-672F-3002-89D4-CDD757ABA2E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23FAD1BD-7081-0872-7BEB-0DFE30ED91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7B86B2AB-A5CF-02B7-5384-96D99D6D211F}"/>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B826FCE6-8D14-9352-9FD3-A163CA7BAE1E}"/>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8" name="מציין מיקום של כותרת תחתונה 7">
            <a:extLst>
              <a:ext uri="{FF2B5EF4-FFF2-40B4-BE49-F238E27FC236}">
                <a16:creationId xmlns:a16="http://schemas.microsoft.com/office/drawing/2014/main" id="{4B2B649D-6FB2-997C-E74E-0D32A0926989}"/>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65EE2C2C-DC14-E95F-2D82-776DC372FD7A}"/>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3681896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08A2C67D-09AF-6D4C-A544-D0A3B14F5130}"/>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A0EA3C4E-231E-3090-A7A9-C7EE9E46ABE7}"/>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4" name="מציין מיקום של כותרת תחתונה 3">
            <a:extLst>
              <a:ext uri="{FF2B5EF4-FFF2-40B4-BE49-F238E27FC236}">
                <a16:creationId xmlns:a16="http://schemas.microsoft.com/office/drawing/2014/main" id="{72C0B674-5085-98A5-5417-74C5DBE11C8E}"/>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B9743B2A-C37D-A9A0-3A61-D544928D2049}"/>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30038809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54608C75-AE5D-3435-C7A1-7584F18D15DF}"/>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3" name="מציין מיקום של כותרת תחתונה 2">
            <a:extLst>
              <a:ext uri="{FF2B5EF4-FFF2-40B4-BE49-F238E27FC236}">
                <a16:creationId xmlns:a16="http://schemas.microsoft.com/office/drawing/2014/main" id="{15E31E73-719C-2B34-8420-79E3D593DA45}"/>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3EFF6586-7EA3-87B7-4913-43A4D4D6FAA2}"/>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4167216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6FD896DA-A791-44C4-D5BA-D23D67CB550E}"/>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63376E-2FFC-6ADD-F0D4-C88ECB90A7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B190CAD3-24A0-E803-9FDC-CD12218EB6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33AE6BC5-275E-3D7A-50C5-8E307A30540D}"/>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6" name="מציין מיקום של כותרת תחתונה 5">
            <a:extLst>
              <a:ext uri="{FF2B5EF4-FFF2-40B4-BE49-F238E27FC236}">
                <a16:creationId xmlns:a16="http://schemas.microsoft.com/office/drawing/2014/main" id="{7898DA96-9382-0152-7697-DD39D1E798F5}"/>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ADFF0E8-8C1C-8C9E-B50D-D52892166073}"/>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10471058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A2E7AC5-89E3-46CB-9C95-33537F13A59F}"/>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D8853DE7-400E-2FDE-9C4C-FBFD076C5D2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7644F42F-2410-1214-826F-C11E9649A80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B0366B2F-4A5D-AA91-088A-B12A8AC1D265}"/>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6" name="מציין מיקום של כותרת תחתונה 5">
            <a:extLst>
              <a:ext uri="{FF2B5EF4-FFF2-40B4-BE49-F238E27FC236}">
                <a16:creationId xmlns:a16="http://schemas.microsoft.com/office/drawing/2014/main" id="{CAE36543-4461-8751-8086-04A9D49FDA09}"/>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949416F5-16D7-BBC0-A2F2-D64AED4C4C86}"/>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37300836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68986B6-04D3-3543-1891-003D8BB36723}"/>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E7728259-1241-90F8-E98C-26335153F38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D78C526F-C3BF-5B32-E70E-08B2C2E05F1C}"/>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5" name="מציין מיקום של כותרת תחתונה 4">
            <a:extLst>
              <a:ext uri="{FF2B5EF4-FFF2-40B4-BE49-F238E27FC236}">
                <a16:creationId xmlns:a16="http://schemas.microsoft.com/office/drawing/2014/main" id="{25559E8F-E33F-818F-04C9-C06726BAFCFF}"/>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0333572-BE90-40AF-F96C-F5D57D3DB62D}"/>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3675450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0677AC42-CF37-9EE6-A297-EE9C8BAA1B83}"/>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114BD95-CADF-F1EE-148D-48B2DB4331B7}"/>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C303B11C-6863-5F71-9E2C-D30224058E92}"/>
              </a:ext>
            </a:extLst>
          </p:cNvPr>
          <p:cNvSpPr>
            <a:spLocks noGrp="1"/>
          </p:cNvSpPr>
          <p:nvPr>
            <p:ph type="dt" sz="half" idx="10"/>
          </p:nvPr>
        </p:nvSpPr>
        <p:spPr/>
        <p:txBody>
          <a:bodyPr/>
          <a:lstStyle/>
          <a:p>
            <a:fld id="{583E3BEB-6813-43E5-B33E-820361469630}" type="datetimeFigureOut">
              <a:rPr lang="he-IL" smtClean="0"/>
              <a:t>י"ט/טבת/תשפ"ו</a:t>
            </a:fld>
            <a:endParaRPr lang="he-IL"/>
          </a:p>
        </p:txBody>
      </p:sp>
      <p:sp>
        <p:nvSpPr>
          <p:cNvPr id="5" name="מציין מיקום של כותרת תחתונה 4">
            <a:extLst>
              <a:ext uri="{FF2B5EF4-FFF2-40B4-BE49-F238E27FC236}">
                <a16:creationId xmlns:a16="http://schemas.microsoft.com/office/drawing/2014/main" id="{8CFF441D-9157-203B-5BAC-0A6616C25BB7}"/>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A446301-8153-7B0C-2EB1-0294C1EDCE46}"/>
              </a:ext>
            </a:extLst>
          </p:cNvPr>
          <p:cNvSpPr>
            <a:spLocks noGrp="1"/>
          </p:cNvSpPr>
          <p:nvPr>
            <p:ph type="sldNum" sz="quarter" idx="12"/>
          </p:nvPr>
        </p:nvSpPr>
        <p:spPr/>
        <p:txBody>
          <a:bodyPr/>
          <a:lstStyle/>
          <a:p>
            <a:fld id="{B461D669-C3E8-47E4-A1E6-9EE471BFCF29}" type="slidenum">
              <a:rPr lang="he-IL" smtClean="0"/>
              <a:t>‹#›</a:t>
            </a:fld>
            <a:endParaRPr lang="he-IL"/>
          </a:p>
        </p:txBody>
      </p:sp>
    </p:spTree>
    <p:extLst>
      <p:ext uri="{BB962C8B-B14F-4D97-AF65-F5344CB8AC3E}">
        <p14:creationId xmlns:p14="http://schemas.microsoft.com/office/powerpoint/2010/main" val="3324125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1D392271-C554-5021-41DB-970A3F029852}"/>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34902114-3036-32E4-0FD8-D35E786DF6B5}"/>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C2BA16DB-6797-66D0-5CD2-24A607A4701D}"/>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583E3BEB-6813-43E5-B33E-820361469630}" type="datetimeFigureOut">
              <a:rPr lang="he-IL" smtClean="0"/>
              <a:t>י"ט/טבת/תשפ"ו</a:t>
            </a:fld>
            <a:endParaRPr lang="he-IL"/>
          </a:p>
        </p:txBody>
      </p:sp>
      <p:sp>
        <p:nvSpPr>
          <p:cNvPr id="5" name="מציין מיקום של כותרת תחתונה 4">
            <a:extLst>
              <a:ext uri="{FF2B5EF4-FFF2-40B4-BE49-F238E27FC236}">
                <a16:creationId xmlns:a16="http://schemas.microsoft.com/office/drawing/2014/main" id="{D55AD956-65D0-F610-723E-AB1713A0CD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2E2EF2E9-232F-8B84-3D48-D9DADBE6235B}"/>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B461D669-C3E8-47E4-A1E6-9EE471BFCF29}" type="slidenum">
              <a:rPr lang="he-IL" smtClean="0"/>
              <a:t>‹#›</a:t>
            </a:fld>
            <a:endParaRPr lang="he-IL"/>
          </a:p>
        </p:txBody>
      </p:sp>
    </p:spTree>
    <p:extLst>
      <p:ext uri="{BB962C8B-B14F-4D97-AF65-F5344CB8AC3E}">
        <p14:creationId xmlns:p14="http://schemas.microsoft.com/office/powerpoint/2010/main" val="41271129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גופן, לבן&#10;&#10;תוכן בינה מלאכותית גנרטיבית עשוי להיות שגוי.">
            <a:extLst>
              <a:ext uri="{FF2B5EF4-FFF2-40B4-BE49-F238E27FC236}">
                <a16:creationId xmlns:a16="http://schemas.microsoft.com/office/drawing/2014/main" id="{35AF69B8-D91D-DBEA-3B79-5AB65C2A65B5}"/>
              </a:ext>
            </a:extLst>
          </p:cNvPr>
          <p:cNvPicPr>
            <a:picLocks noChangeAspect="1"/>
          </p:cNvPicPr>
          <p:nvPr/>
        </p:nvPicPr>
        <p:blipFill>
          <a:blip r:embed="rId2"/>
          <a:stretch>
            <a:fillRect/>
          </a:stretch>
        </p:blipFill>
        <p:spPr>
          <a:xfrm>
            <a:off x="-261484" y="0"/>
            <a:ext cx="12714968" cy="6858000"/>
          </a:xfrm>
          <a:prstGeom prst="rect">
            <a:avLst/>
          </a:prstGeom>
        </p:spPr>
      </p:pic>
      <p:sp>
        <p:nvSpPr>
          <p:cNvPr id="7" name="תיבת טקסט 6">
            <a:extLst>
              <a:ext uri="{FF2B5EF4-FFF2-40B4-BE49-F238E27FC236}">
                <a16:creationId xmlns:a16="http://schemas.microsoft.com/office/drawing/2014/main" id="{2B83F0A6-02D6-6FE6-DD91-17E87AD8256C}"/>
              </a:ext>
            </a:extLst>
          </p:cNvPr>
          <p:cNvSpPr txBox="1"/>
          <p:nvPr/>
        </p:nvSpPr>
        <p:spPr>
          <a:xfrm>
            <a:off x="4491488" y="5525299"/>
            <a:ext cx="2196860" cy="461665"/>
          </a:xfrm>
          <a:prstGeom prst="rect">
            <a:avLst/>
          </a:prstGeom>
          <a:solidFill>
            <a:srgbClr val="DEDEDE"/>
          </a:solidFill>
        </p:spPr>
        <p:txBody>
          <a:bodyPr wrap="square" rtlCol="1">
            <a:spAutoFit/>
          </a:bodyPr>
          <a:lstStyle/>
          <a:p>
            <a:r>
              <a:rPr lang="he-IL" sz="2400" dirty="0"/>
              <a:t>פרופ' חן חגג</a:t>
            </a:r>
          </a:p>
        </p:txBody>
      </p:sp>
      <p:sp>
        <p:nvSpPr>
          <p:cNvPr id="10" name="תיבת טקסט 9">
            <a:extLst>
              <a:ext uri="{FF2B5EF4-FFF2-40B4-BE49-F238E27FC236}">
                <a16:creationId xmlns:a16="http://schemas.microsoft.com/office/drawing/2014/main" id="{9F1A0FAA-C2FD-8E4B-9BF5-A927D48AB68D}"/>
              </a:ext>
            </a:extLst>
          </p:cNvPr>
          <p:cNvSpPr txBox="1"/>
          <p:nvPr/>
        </p:nvSpPr>
        <p:spPr>
          <a:xfrm>
            <a:off x="4313208" y="5986964"/>
            <a:ext cx="894272" cy="461665"/>
          </a:xfrm>
          <a:prstGeom prst="rect">
            <a:avLst/>
          </a:prstGeom>
          <a:solidFill>
            <a:srgbClr val="DEDEDE"/>
          </a:solidFill>
        </p:spPr>
        <p:txBody>
          <a:bodyPr wrap="square" rtlCol="1">
            <a:spAutoFit/>
          </a:bodyPr>
          <a:lstStyle/>
          <a:p>
            <a:r>
              <a:rPr lang="he-IL" sz="2400" dirty="0"/>
              <a:t>2026</a:t>
            </a:r>
          </a:p>
        </p:txBody>
      </p:sp>
    </p:spTree>
    <p:extLst>
      <p:ext uri="{BB962C8B-B14F-4D97-AF65-F5344CB8AC3E}">
        <p14:creationId xmlns:p14="http://schemas.microsoft.com/office/powerpoint/2010/main" val="24658986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גופן">
            <a:extLst>
              <a:ext uri="{FF2B5EF4-FFF2-40B4-BE49-F238E27FC236}">
                <a16:creationId xmlns:a16="http://schemas.microsoft.com/office/drawing/2014/main" id="{746F1C42-134D-55ED-3216-C0FC1D9825BD}"/>
              </a:ext>
            </a:extLst>
          </p:cNvPr>
          <p:cNvPicPr>
            <a:picLocks noChangeAspect="1"/>
          </p:cNvPicPr>
          <p:nvPr/>
        </p:nvPicPr>
        <p:blipFill>
          <a:blip r:embed="rId3"/>
          <a:srcRect t="1509"/>
          <a:stretch>
            <a:fillRect/>
          </a:stretch>
        </p:blipFill>
        <p:spPr>
          <a:xfrm>
            <a:off x="-233748" y="-178278"/>
            <a:ext cx="12659496" cy="7036278"/>
          </a:xfrm>
          <a:prstGeom prst="rect">
            <a:avLst/>
          </a:prstGeom>
        </p:spPr>
      </p:pic>
      <p:sp>
        <p:nvSpPr>
          <p:cNvPr id="6" name="תיבת טקסט 5">
            <a:extLst>
              <a:ext uri="{FF2B5EF4-FFF2-40B4-BE49-F238E27FC236}">
                <a16:creationId xmlns:a16="http://schemas.microsoft.com/office/drawing/2014/main" id="{CCEA67E8-0A0C-A199-3148-C0D12C2D444F}"/>
              </a:ext>
            </a:extLst>
          </p:cNvPr>
          <p:cNvSpPr txBox="1"/>
          <p:nvPr/>
        </p:nvSpPr>
        <p:spPr>
          <a:xfrm>
            <a:off x="494582" y="-178278"/>
            <a:ext cx="11363863" cy="2123658"/>
          </a:xfrm>
          <a:prstGeom prst="rect">
            <a:avLst/>
          </a:prstGeom>
          <a:solidFill>
            <a:srgbClr val="F3F4F6"/>
          </a:solidFill>
        </p:spPr>
        <p:txBody>
          <a:bodyPr wrap="square" rtlCol="1">
            <a:spAutoFit/>
          </a:bodyPr>
          <a:lstStyle/>
          <a:p>
            <a:r>
              <a:rPr lang="he-IL" sz="4400" b="1" dirty="0">
                <a:solidFill>
                  <a:srgbClr val="112D53"/>
                </a:solidFill>
              </a:rPr>
              <a:t>הבעיה:</a:t>
            </a:r>
            <a:br>
              <a:rPr lang="en-US" sz="4400" b="1" dirty="0">
                <a:solidFill>
                  <a:srgbClr val="112D53"/>
                </a:solidFill>
              </a:rPr>
            </a:br>
            <a:r>
              <a:rPr lang="he-IL" sz="4400" b="1" dirty="0">
                <a:solidFill>
                  <a:srgbClr val="112D53"/>
                </a:solidFill>
              </a:rPr>
              <a:t>האם חברת התעופה הדומיננטית היא בהכרח הזולה ביותר?</a:t>
            </a:r>
            <a:endParaRPr lang="he-IL" b="1" dirty="0">
              <a:solidFill>
                <a:srgbClr val="112D53"/>
              </a:solidFill>
            </a:endParaRPr>
          </a:p>
        </p:txBody>
      </p:sp>
    </p:spTree>
    <p:extLst>
      <p:ext uri="{BB962C8B-B14F-4D97-AF65-F5344CB8AC3E}">
        <p14:creationId xmlns:p14="http://schemas.microsoft.com/office/powerpoint/2010/main" val="25356459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גופן, עיצוב">
            <a:extLst>
              <a:ext uri="{FF2B5EF4-FFF2-40B4-BE49-F238E27FC236}">
                <a16:creationId xmlns:a16="http://schemas.microsoft.com/office/drawing/2014/main" id="{4912BA9A-B0E8-6CC8-D3C4-41F9241257E6}"/>
              </a:ext>
            </a:extLst>
          </p:cNvPr>
          <p:cNvPicPr>
            <a:picLocks noChangeAspect="1"/>
          </p:cNvPicPr>
          <p:nvPr/>
        </p:nvPicPr>
        <p:blipFill>
          <a:blip r:embed="rId3"/>
          <a:stretch>
            <a:fillRect/>
          </a:stretch>
        </p:blipFill>
        <p:spPr>
          <a:xfrm>
            <a:off x="-288605" y="-51758"/>
            <a:ext cx="12865579" cy="6909758"/>
          </a:xfrm>
          <a:prstGeom prst="rect">
            <a:avLst/>
          </a:prstGeom>
        </p:spPr>
      </p:pic>
    </p:spTree>
    <p:extLst>
      <p:ext uri="{BB962C8B-B14F-4D97-AF65-F5344CB8AC3E}">
        <p14:creationId xmlns:p14="http://schemas.microsoft.com/office/powerpoint/2010/main" val="34974779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גופן&#10;&#10;תוכן בינה מלאכותית גנרטיבית עשוי להיות שגוי.">
            <a:extLst>
              <a:ext uri="{FF2B5EF4-FFF2-40B4-BE49-F238E27FC236}">
                <a16:creationId xmlns:a16="http://schemas.microsoft.com/office/drawing/2014/main" id="{E3D40277-4F7D-ADE3-E3CF-CE43A22C83EE}"/>
              </a:ext>
            </a:extLst>
          </p:cNvPr>
          <p:cNvPicPr>
            <a:picLocks noChangeAspect="1"/>
          </p:cNvPicPr>
          <p:nvPr/>
        </p:nvPicPr>
        <p:blipFill>
          <a:blip r:embed="rId3"/>
          <a:stretch>
            <a:fillRect/>
          </a:stretch>
        </p:blipFill>
        <p:spPr>
          <a:xfrm>
            <a:off x="0" y="0"/>
            <a:ext cx="12192000" cy="6858000"/>
          </a:xfrm>
          <a:prstGeom prst="rect">
            <a:avLst/>
          </a:prstGeom>
        </p:spPr>
      </p:pic>
      <p:sp>
        <p:nvSpPr>
          <p:cNvPr id="6" name="תיבת טקסט 5">
            <a:extLst>
              <a:ext uri="{FF2B5EF4-FFF2-40B4-BE49-F238E27FC236}">
                <a16:creationId xmlns:a16="http://schemas.microsoft.com/office/drawing/2014/main" id="{F5A61694-A96C-F7A5-8C7A-D4D0996CDEEC}"/>
              </a:ext>
            </a:extLst>
          </p:cNvPr>
          <p:cNvSpPr txBox="1"/>
          <p:nvPr/>
        </p:nvSpPr>
        <p:spPr>
          <a:xfrm>
            <a:off x="362310" y="264544"/>
            <a:ext cx="11363863" cy="769441"/>
          </a:xfrm>
          <a:prstGeom prst="rect">
            <a:avLst/>
          </a:prstGeom>
          <a:solidFill>
            <a:srgbClr val="F6F7F9"/>
          </a:solidFill>
        </p:spPr>
        <p:txBody>
          <a:bodyPr wrap="square" rtlCol="1">
            <a:spAutoFit/>
          </a:bodyPr>
          <a:lstStyle/>
          <a:p>
            <a:r>
              <a:rPr lang="he-IL" sz="4400" b="1" dirty="0">
                <a:solidFill>
                  <a:srgbClr val="112D53"/>
                </a:solidFill>
              </a:rPr>
              <a:t>מערך נתונים:</a:t>
            </a:r>
            <a:endParaRPr lang="he-IL" b="1" dirty="0">
              <a:solidFill>
                <a:srgbClr val="112D53"/>
              </a:solidFill>
            </a:endParaRPr>
          </a:p>
        </p:txBody>
      </p:sp>
      <p:sp>
        <p:nvSpPr>
          <p:cNvPr id="2" name="תיבת טקסט 1">
            <a:extLst>
              <a:ext uri="{FF2B5EF4-FFF2-40B4-BE49-F238E27FC236}">
                <a16:creationId xmlns:a16="http://schemas.microsoft.com/office/drawing/2014/main" id="{F6738A6B-3FBC-294B-79B8-B174287DE719}"/>
              </a:ext>
            </a:extLst>
          </p:cNvPr>
          <p:cNvSpPr txBox="1"/>
          <p:nvPr/>
        </p:nvSpPr>
        <p:spPr>
          <a:xfrm>
            <a:off x="6829427" y="3269716"/>
            <a:ext cx="1628775" cy="571500"/>
          </a:xfrm>
          <a:prstGeom prst="rect">
            <a:avLst/>
          </a:prstGeom>
          <a:solidFill>
            <a:srgbClr val="F5F6F8"/>
          </a:solidFill>
        </p:spPr>
        <p:txBody>
          <a:bodyPr wrap="square" rtlCol="1">
            <a:spAutoFit/>
          </a:bodyPr>
          <a:lstStyle/>
          <a:p>
            <a:endParaRPr lang="he-IL" dirty="0"/>
          </a:p>
        </p:txBody>
      </p:sp>
      <p:pic>
        <p:nvPicPr>
          <p:cNvPr id="4" name="תמונה 3" descr="תמונה שמכילה טקסט, גופן, לבן, עיצוב&#10;&#10;תוכן בינה מלאכותית גנרטיבית עשוי להיות שגוי.">
            <a:extLst>
              <a:ext uri="{FF2B5EF4-FFF2-40B4-BE49-F238E27FC236}">
                <a16:creationId xmlns:a16="http://schemas.microsoft.com/office/drawing/2014/main" id="{7B22174E-8A01-6A0A-3830-341230FE6802}"/>
              </a:ext>
            </a:extLst>
          </p:cNvPr>
          <p:cNvPicPr>
            <a:picLocks noChangeAspect="1"/>
          </p:cNvPicPr>
          <p:nvPr/>
        </p:nvPicPr>
        <p:blipFill>
          <a:blip r:embed="rId4"/>
          <a:stretch>
            <a:fillRect/>
          </a:stretch>
        </p:blipFill>
        <p:spPr>
          <a:xfrm>
            <a:off x="7651435" y="3248024"/>
            <a:ext cx="806767" cy="333375"/>
          </a:xfrm>
          <a:prstGeom prst="rect">
            <a:avLst/>
          </a:prstGeom>
        </p:spPr>
      </p:pic>
    </p:spTree>
    <p:extLst>
      <p:ext uri="{BB962C8B-B14F-4D97-AF65-F5344CB8AC3E}">
        <p14:creationId xmlns:p14="http://schemas.microsoft.com/office/powerpoint/2010/main" val="284905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45628-8772-8BA8-880D-81733C7B2714}"/>
            </a:ext>
          </a:extLst>
        </p:cNvPr>
        <p:cNvGrpSpPr/>
        <p:nvPr/>
      </p:nvGrpSpPr>
      <p:grpSpPr>
        <a:xfrm>
          <a:off x="0" y="0"/>
          <a:ext cx="0" cy="0"/>
          <a:chOff x="0" y="0"/>
          <a:chExt cx="0" cy="0"/>
        </a:xfrm>
      </p:grpSpPr>
      <p:pic>
        <p:nvPicPr>
          <p:cNvPr id="5" name="תמונה 4" descr="תמונה שמכילה טקסט, צילום מסך, תרשים, מקביל&#10;&#10;תוכן בינה מלאכותית גנרטיבית עשוי להיות שגוי.">
            <a:extLst>
              <a:ext uri="{FF2B5EF4-FFF2-40B4-BE49-F238E27FC236}">
                <a16:creationId xmlns:a16="http://schemas.microsoft.com/office/drawing/2014/main" id="{44BCC73A-7EA1-852B-2FF2-A5CDF178978D}"/>
              </a:ext>
            </a:extLst>
          </p:cNvPr>
          <p:cNvPicPr>
            <a:picLocks noChangeAspect="1"/>
          </p:cNvPicPr>
          <p:nvPr/>
        </p:nvPicPr>
        <p:blipFill>
          <a:blip r:embed="rId3"/>
          <a:stretch>
            <a:fillRect/>
          </a:stretch>
        </p:blipFill>
        <p:spPr>
          <a:xfrm>
            <a:off x="0" y="0"/>
            <a:ext cx="12192000" cy="6858000"/>
          </a:xfrm>
          <a:prstGeom prst="rect">
            <a:avLst/>
          </a:prstGeom>
        </p:spPr>
      </p:pic>
      <p:sp>
        <p:nvSpPr>
          <p:cNvPr id="6" name="תיבת טקסט 5">
            <a:extLst>
              <a:ext uri="{FF2B5EF4-FFF2-40B4-BE49-F238E27FC236}">
                <a16:creationId xmlns:a16="http://schemas.microsoft.com/office/drawing/2014/main" id="{58E413BA-3230-D2DA-CF93-C25FE3761A64}"/>
              </a:ext>
            </a:extLst>
          </p:cNvPr>
          <p:cNvSpPr txBox="1"/>
          <p:nvPr/>
        </p:nvSpPr>
        <p:spPr>
          <a:xfrm>
            <a:off x="1" y="0"/>
            <a:ext cx="12101512" cy="6858000"/>
          </a:xfrm>
          <a:prstGeom prst="rect">
            <a:avLst/>
          </a:prstGeom>
          <a:solidFill>
            <a:srgbClr val="F2EEE8"/>
          </a:solidFill>
        </p:spPr>
        <p:txBody>
          <a:bodyPr wrap="square" rtlCol="1">
            <a:spAutoFit/>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lang="he-IL" sz="1800" b="0" i="0" u="none" strike="noStrike" kern="1200" cap="none" spc="0" normalizeH="0" baseline="0" noProof="0" dirty="0">
              <a:ln>
                <a:noFill/>
              </a:ln>
              <a:solidFill>
                <a:prstClr val="black"/>
              </a:solidFill>
              <a:effectLst/>
              <a:uLnTx/>
              <a:uFillTx/>
              <a:latin typeface="Aptos" panose="02110004020202020204"/>
              <a:ea typeface="+mn-ea"/>
              <a:cs typeface="Arial" panose="020B0604020202020204" pitchFamily="34" charset="0"/>
            </a:endParaRPr>
          </a:p>
        </p:txBody>
      </p:sp>
      <p:sp>
        <p:nvSpPr>
          <p:cNvPr id="7" name="תיבת טקסט 6">
            <a:extLst>
              <a:ext uri="{FF2B5EF4-FFF2-40B4-BE49-F238E27FC236}">
                <a16:creationId xmlns:a16="http://schemas.microsoft.com/office/drawing/2014/main" id="{AF42B2D6-90DD-77D4-3A2C-A4801028DE3D}"/>
              </a:ext>
            </a:extLst>
          </p:cNvPr>
          <p:cNvSpPr txBox="1"/>
          <p:nvPr/>
        </p:nvSpPr>
        <p:spPr>
          <a:xfrm>
            <a:off x="540590" y="344948"/>
            <a:ext cx="11336180" cy="646331"/>
          </a:xfrm>
          <a:prstGeom prst="rect">
            <a:avLst/>
          </a:prstGeom>
          <a:solidFill>
            <a:srgbClr val="F2EEE8"/>
          </a:solidFill>
        </p:spPr>
        <p:txBody>
          <a:bodyPr wrap="square" rtlCol="1">
            <a:spAutoFit/>
          </a:bodyPr>
          <a:lstStyle/>
          <a:p>
            <a:r>
              <a:rPr lang="he-IL" sz="3600" b="1" dirty="0">
                <a:solidFill>
                  <a:schemeClr val="tx2">
                    <a:lumMod val="75000"/>
                    <a:lumOff val="25000"/>
                  </a:schemeClr>
                </a:solidFill>
              </a:rPr>
              <a:t>שיטות ואלגוריתמים חלופיים:</a:t>
            </a:r>
          </a:p>
        </p:txBody>
      </p:sp>
      <p:sp>
        <p:nvSpPr>
          <p:cNvPr id="3" name="תיבת טקסט 2">
            <a:extLst>
              <a:ext uri="{FF2B5EF4-FFF2-40B4-BE49-F238E27FC236}">
                <a16:creationId xmlns:a16="http://schemas.microsoft.com/office/drawing/2014/main" id="{863E7573-89BC-0422-E1E2-F561C7F107D6}"/>
              </a:ext>
            </a:extLst>
          </p:cNvPr>
          <p:cNvSpPr txBox="1"/>
          <p:nvPr/>
        </p:nvSpPr>
        <p:spPr>
          <a:xfrm>
            <a:off x="742949" y="991279"/>
            <a:ext cx="11336179" cy="4801314"/>
          </a:xfrm>
          <a:prstGeom prst="rect">
            <a:avLst/>
          </a:prstGeom>
          <a:noFill/>
        </p:spPr>
        <p:txBody>
          <a:bodyPr wrap="square" rtlCol="1">
            <a:spAutoFit/>
          </a:bodyPr>
          <a:lstStyle/>
          <a:p>
            <a:r>
              <a:rPr lang="he-IL" dirty="0"/>
              <a:t>מאחר שהבעיה בפרויקט הוגדרה כבעיית סיווג, קיימות שיטות נוספות שניתן היה לשקול:</a:t>
            </a:r>
          </a:p>
          <a:p>
            <a:r>
              <a:rPr lang="he-IL" b="1" u="sng" dirty="0"/>
              <a:t>שיטות חלופיות נפוצות</a:t>
            </a:r>
          </a:p>
          <a:p>
            <a:r>
              <a:rPr lang="en-US" b="1" dirty="0"/>
              <a:t>AdaBoost (Adaptive Boosting)</a:t>
            </a:r>
            <a:r>
              <a:rPr lang="he-IL" b="1" dirty="0"/>
              <a:t>:</a:t>
            </a:r>
            <a:br>
              <a:rPr lang="en-US" dirty="0"/>
            </a:br>
            <a:r>
              <a:rPr lang="he-IL" dirty="0"/>
              <a:t>שיטת </a:t>
            </a:r>
            <a:r>
              <a:rPr lang="en-US" dirty="0"/>
              <a:t>Ensemble </a:t>
            </a:r>
            <a:r>
              <a:rPr lang="he-IL" dirty="0"/>
              <a:t>המתמקדת בדוגמאות קשות לסיווג באמצעות התאמת משקלים </a:t>
            </a:r>
            <a:r>
              <a:rPr lang="he-IL" dirty="0" err="1"/>
              <a:t>איטרטיבית</a:t>
            </a:r>
            <a:r>
              <a:rPr lang="he-IL" dirty="0"/>
              <a:t>. הייתה יכולה לשפר את הדיוק בזיהוי מקרים גבוליים שבהם המוביל הדומיננטי אינו הזול ביותר.</a:t>
            </a:r>
          </a:p>
          <a:p>
            <a:r>
              <a:rPr lang="he-IL" b="1" dirty="0"/>
              <a:t>רשתות נוירונים </a:t>
            </a:r>
            <a:r>
              <a:rPr lang="en-US" b="1" dirty="0"/>
              <a:t>(Neural Networks)</a:t>
            </a:r>
            <a:r>
              <a:rPr lang="he-IL" b="1" dirty="0"/>
              <a:t>:</a:t>
            </a:r>
            <a:br>
              <a:rPr lang="en-US" dirty="0"/>
            </a:br>
            <a:r>
              <a:rPr lang="he-IL" dirty="0"/>
              <a:t>מודלים לא-ליניאריים מתקדמים המסוגלים לזהות דפוסים מורכבים ואינטראקציות בין פיצ’רים. מתאימים במיוחד לנתונים מרובי משתנים, אך דורשים משאבי חישוב ונתונים בהיקף גדול יותר.</a:t>
            </a:r>
          </a:p>
          <a:p>
            <a:br>
              <a:rPr lang="he-IL" dirty="0"/>
            </a:br>
            <a:endParaRPr lang="he-IL" dirty="0"/>
          </a:p>
          <a:p>
            <a:r>
              <a:rPr lang="he-IL" b="1" u="sng" dirty="0"/>
              <a:t>מיקוד הבעיה בפרויקט</a:t>
            </a:r>
          </a:p>
          <a:p>
            <a:r>
              <a:rPr lang="he-IL" b="1" dirty="0"/>
              <a:t>חיזוי התנהגות תמחור (הנישה שלנו):</a:t>
            </a:r>
            <a:br>
              <a:rPr lang="he-IL" dirty="0"/>
            </a:br>
            <a:r>
              <a:rPr lang="he-IL" dirty="0"/>
              <a:t>האם חברת התעופה הדומיננטית היא בהכרח הזולה ביותר בקו?</a:t>
            </a:r>
          </a:p>
          <a:p>
            <a:r>
              <a:rPr lang="he-IL" dirty="0"/>
              <a:t>לעומת:</a:t>
            </a:r>
            <a:br>
              <a:rPr lang="he-IL" dirty="0"/>
            </a:br>
            <a:r>
              <a:rPr lang="he-IL" b="1" dirty="0"/>
              <a:t>חיזוי מחיר מוחלט:</a:t>
            </a:r>
            <a:br>
              <a:rPr lang="he-IL" dirty="0"/>
            </a:br>
            <a:r>
              <a:rPr lang="he-IL" dirty="0"/>
              <a:t>כמה תעלה הטיסה בפועל?</a:t>
            </a:r>
          </a:p>
          <a:p>
            <a:endParaRPr lang="he-IL" dirty="0"/>
          </a:p>
        </p:txBody>
      </p:sp>
    </p:spTree>
    <p:extLst>
      <p:ext uri="{BB962C8B-B14F-4D97-AF65-F5344CB8AC3E}">
        <p14:creationId xmlns:p14="http://schemas.microsoft.com/office/powerpoint/2010/main" val="3637219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גופן&#10;&#10;תוכן בינה מלאכותית גנרטיבית עשוי להיות שגוי.">
            <a:extLst>
              <a:ext uri="{FF2B5EF4-FFF2-40B4-BE49-F238E27FC236}">
                <a16:creationId xmlns:a16="http://schemas.microsoft.com/office/drawing/2014/main" id="{7E7B6F4A-EA92-CE9E-D129-ED94622D722C}"/>
              </a:ext>
            </a:extLst>
          </p:cNvPr>
          <p:cNvPicPr>
            <a:picLocks noChangeAspect="1"/>
          </p:cNvPicPr>
          <p:nvPr/>
        </p:nvPicPr>
        <p:blipFill>
          <a:blip r:embed="rId3"/>
          <a:stretch>
            <a:fillRect/>
          </a:stretch>
        </p:blipFill>
        <p:spPr>
          <a:xfrm>
            <a:off x="0" y="0"/>
            <a:ext cx="12191999" cy="6858000"/>
          </a:xfrm>
          <a:prstGeom prst="rect">
            <a:avLst/>
          </a:prstGeom>
        </p:spPr>
      </p:pic>
      <p:sp>
        <p:nvSpPr>
          <p:cNvPr id="2" name="תיבת טקסט 1">
            <a:extLst>
              <a:ext uri="{FF2B5EF4-FFF2-40B4-BE49-F238E27FC236}">
                <a16:creationId xmlns:a16="http://schemas.microsoft.com/office/drawing/2014/main" id="{E0D79265-86AE-6E5B-84E5-32C8BF8274BD}"/>
              </a:ext>
            </a:extLst>
          </p:cNvPr>
          <p:cNvSpPr txBox="1"/>
          <p:nvPr/>
        </p:nvSpPr>
        <p:spPr>
          <a:xfrm>
            <a:off x="449339" y="1660460"/>
            <a:ext cx="5579268" cy="461665"/>
          </a:xfrm>
          <a:prstGeom prst="rect">
            <a:avLst/>
          </a:prstGeom>
          <a:solidFill>
            <a:srgbClr val="F2F1EB"/>
          </a:solidFill>
        </p:spPr>
        <p:txBody>
          <a:bodyPr wrap="square" rtlCol="1">
            <a:spAutoFit/>
          </a:bodyPr>
          <a:lstStyle/>
          <a:p>
            <a:r>
              <a:rPr lang="he-IL" sz="2400" b="1" dirty="0">
                <a:solidFill>
                  <a:srgbClr val="0C1A3C"/>
                </a:solidFill>
              </a:rPr>
              <a:t>חיזוי האם המוביל הגדול הוא הזול</a:t>
            </a:r>
          </a:p>
        </p:txBody>
      </p:sp>
      <p:sp>
        <p:nvSpPr>
          <p:cNvPr id="3" name="תיבת טקסט 2">
            <a:extLst>
              <a:ext uri="{FF2B5EF4-FFF2-40B4-BE49-F238E27FC236}">
                <a16:creationId xmlns:a16="http://schemas.microsoft.com/office/drawing/2014/main" id="{E794A50D-1804-0B34-767A-E172FB43D681}"/>
              </a:ext>
            </a:extLst>
          </p:cNvPr>
          <p:cNvSpPr txBox="1"/>
          <p:nvPr/>
        </p:nvSpPr>
        <p:spPr>
          <a:xfrm>
            <a:off x="6028607" y="1651813"/>
            <a:ext cx="5579268" cy="461665"/>
          </a:xfrm>
          <a:prstGeom prst="rect">
            <a:avLst/>
          </a:prstGeom>
          <a:solidFill>
            <a:srgbClr val="F2F1EB"/>
          </a:solidFill>
        </p:spPr>
        <p:txBody>
          <a:bodyPr wrap="square" rtlCol="1">
            <a:spAutoFit/>
          </a:bodyPr>
          <a:lstStyle/>
          <a:p>
            <a:r>
              <a:rPr lang="he-IL" sz="2400" b="1" dirty="0">
                <a:solidFill>
                  <a:srgbClr val="0C1A3C"/>
                </a:solidFill>
              </a:rPr>
              <a:t>הבנת מבנה השוק</a:t>
            </a:r>
          </a:p>
        </p:txBody>
      </p:sp>
      <p:sp>
        <p:nvSpPr>
          <p:cNvPr id="4" name="תיבת טקסט 3">
            <a:extLst>
              <a:ext uri="{FF2B5EF4-FFF2-40B4-BE49-F238E27FC236}">
                <a16:creationId xmlns:a16="http://schemas.microsoft.com/office/drawing/2014/main" id="{2CDB70C2-76A4-F8C6-EC2A-153FB34818C6}"/>
              </a:ext>
            </a:extLst>
          </p:cNvPr>
          <p:cNvSpPr txBox="1"/>
          <p:nvPr/>
        </p:nvSpPr>
        <p:spPr>
          <a:xfrm>
            <a:off x="0" y="2079560"/>
            <a:ext cx="6095999" cy="5355312"/>
          </a:xfrm>
          <a:prstGeom prst="rect">
            <a:avLst/>
          </a:prstGeom>
          <a:solidFill>
            <a:srgbClr val="F1F1EC"/>
          </a:solidFill>
        </p:spPr>
        <p:txBody>
          <a:bodyPr wrap="square" rtlCol="1">
            <a:spAutoFit/>
          </a:bodyPr>
          <a:lstStyle/>
          <a:p>
            <a:pPr marL="285750" indent="-285750">
              <a:buFont typeface="Arial" panose="020B0604020202020204" pitchFamily="34" charset="0"/>
              <a:buChar char="•"/>
            </a:pPr>
            <a:r>
              <a:rPr lang="en-US" b="1" dirty="0"/>
              <a:t>Logistic Regression</a:t>
            </a:r>
            <a:r>
              <a:rPr lang="he-IL" b="1" dirty="0"/>
              <a:t>: </a:t>
            </a:r>
            <a:r>
              <a:rPr lang="he-IL" dirty="0"/>
              <a:t>מודל ליניארי בסיסי, שנבחר כ־ </a:t>
            </a:r>
            <a:r>
              <a:rPr lang="en-US" dirty="0"/>
              <a:t>Baseline </a:t>
            </a:r>
            <a:r>
              <a:rPr lang="he-IL" dirty="0"/>
              <a:t> להשוואה. מאפשר פרשנות קלה של הקשר בין הפיצ’רים לבין ההסתברות שהחברה הדומיננטית היא הזולה ביותר בקו</a:t>
            </a:r>
            <a:r>
              <a:rPr lang="en-US" dirty="0"/>
              <a:t>.</a:t>
            </a:r>
            <a:endParaRPr lang="he-IL" dirty="0"/>
          </a:p>
          <a:p>
            <a:pPr marL="285750" indent="-285750">
              <a:buFont typeface="Arial" panose="020B0604020202020204" pitchFamily="34" charset="0"/>
              <a:buChar char="•"/>
            </a:pPr>
            <a:r>
              <a:rPr lang="en-US" b="1" dirty="0"/>
              <a:t>Random Forest</a:t>
            </a:r>
            <a:r>
              <a:rPr lang="he-IL" b="1" dirty="0"/>
              <a:t>: </a:t>
            </a:r>
            <a:r>
              <a:rPr lang="he-IL" dirty="0"/>
              <a:t>מודל אנסמבל מבוסס עצים, חזק בזיהוי </a:t>
            </a:r>
            <a:r>
              <a:rPr lang="he-IL" dirty="0" err="1"/>
              <a:t>אינטרקציות</a:t>
            </a:r>
            <a:r>
              <a:rPr lang="he-IL" dirty="0"/>
              <a:t> מורכבות. מתאים במיוחד לנתונים טבלאיים ולבעיות סיווג עם פיצ’רים מגוונים</a:t>
            </a:r>
            <a:r>
              <a:rPr lang="en-US" dirty="0"/>
              <a:t>.</a:t>
            </a:r>
            <a:endParaRPr lang="he-IL" dirty="0"/>
          </a:p>
          <a:p>
            <a:pPr marL="285750" indent="-285750">
              <a:buFont typeface="Arial" panose="020B0604020202020204" pitchFamily="34" charset="0"/>
              <a:buChar char="•"/>
            </a:pPr>
            <a:r>
              <a:rPr lang="en-US" b="1" dirty="0" err="1"/>
              <a:t>XGBoost</a:t>
            </a:r>
            <a:r>
              <a:rPr lang="he-IL" b="1" dirty="0"/>
              <a:t>: </a:t>
            </a:r>
            <a:r>
              <a:rPr lang="he-IL" dirty="0"/>
              <a:t>מודל</a:t>
            </a:r>
            <a:r>
              <a:rPr lang="en-US" dirty="0"/>
              <a:t> Boosting </a:t>
            </a:r>
            <a:r>
              <a:rPr lang="he-IL" dirty="0"/>
              <a:t>מתקדם, שנבחר בשל יכולתו להגיע לביצועים גבוהים בבעיות סיווג מורכבות, תוך שליטה ב־</a:t>
            </a:r>
            <a:r>
              <a:rPr lang="en-US" dirty="0"/>
              <a:t>overfitting  </a:t>
            </a:r>
            <a:r>
              <a:rPr lang="he-IL" dirty="0"/>
              <a:t>באמצעות </a:t>
            </a:r>
            <a:r>
              <a:rPr lang="he-IL" dirty="0" err="1"/>
              <a:t>רגולריזציה</a:t>
            </a:r>
            <a:r>
              <a:rPr lang="en-US" dirty="0"/>
              <a:t>.</a:t>
            </a:r>
            <a:endParaRPr lang="he-IL" dirty="0"/>
          </a:p>
          <a:p>
            <a:pPr marL="285750" lvl="0" indent="-285750">
              <a:buFont typeface="Arial" panose="020B0604020202020204" pitchFamily="34" charset="0"/>
              <a:buChar char="•"/>
            </a:pPr>
            <a:r>
              <a:rPr lang="en-US" b="1" dirty="0"/>
              <a:t>KNN</a:t>
            </a:r>
            <a:r>
              <a:rPr lang="he-IL" b="1" dirty="0"/>
              <a:t>: </a:t>
            </a:r>
            <a:r>
              <a:rPr lang="he-IL" dirty="0"/>
              <a:t>מודל מבוסס מרחק, הבוחן דמיון בין תצפיות. נבחר כדי לבדוק האם קיימים דפוסים מקומיים בין קווי טיסה עם מאפיינים דומים</a:t>
            </a:r>
            <a:r>
              <a:rPr lang="en-US" dirty="0"/>
              <a:t>.</a:t>
            </a:r>
          </a:p>
          <a:p>
            <a:pPr marL="285750" lvl="0" indent="-285750">
              <a:buFont typeface="Arial" panose="020B0604020202020204" pitchFamily="34" charset="0"/>
              <a:buChar char="•"/>
            </a:pPr>
            <a:r>
              <a:rPr lang="en-US" b="1" dirty="0"/>
              <a:t>SVM(</a:t>
            </a:r>
            <a:r>
              <a:rPr lang="en-US" b="1" dirty="0" err="1"/>
              <a:t>LinearSVC</a:t>
            </a:r>
            <a:r>
              <a:rPr lang="en-US" b="1" dirty="0"/>
              <a:t>)</a:t>
            </a:r>
            <a:r>
              <a:rPr lang="he-IL" b="1" dirty="0"/>
              <a:t>: </a:t>
            </a:r>
            <a:r>
              <a:rPr lang="he-IL" dirty="0"/>
              <a:t>מודל מבוסס מציאת גבול החלטה אופטימלי. בחירה זו נועדה לאזן בין הצורך לבחון הפרדה גיאומטרית לבין אילוצי זמן הריצה, והיא מאפשרת אימון מהיר ויעיל גם על דאטה-סט רחב</a:t>
            </a:r>
            <a:endParaRPr lang="en-US" dirty="0"/>
          </a:p>
          <a:p>
            <a:endParaRPr lang="en-US" dirty="0"/>
          </a:p>
          <a:p>
            <a:endParaRPr lang="en-US" dirty="0"/>
          </a:p>
        </p:txBody>
      </p:sp>
      <p:pic>
        <p:nvPicPr>
          <p:cNvPr id="7" name="תמונה 6">
            <a:extLst>
              <a:ext uri="{FF2B5EF4-FFF2-40B4-BE49-F238E27FC236}">
                <a16:creationId xmlns:a16="http://schemas.microsoft.com/office/drawing/2014/main" id="{3238A2C7-E1A2-89D1-EB21-34B9B3CE04A9}"/>
              </a:ext>
            </a:extLst>
          </p:cNvPr>
          <p:cNvPicPr>
            <a:picLocks noChangeAspect="1"/>
          </p:cNvPicPr>
          <p:nvPr/>
        </p:nvPicPr>
        <p:blipFill>
          <a:blip r:embed="rId4"/>
          <a:stretch>
            <a:fillRect/>
          </a:stretch>
        </p:blipFill>
        <p:spPr>
          <a:xfrm>
            <a:off x="449339" y="116798"/>
            <a:ext cx="11437861" cy="966790"/>
          </a:xfrm>
          <a:prstGeom prst="rect">
            <a:avLst/>
          </a:prstGeom>
        </p:spPr>
      </p:pic>
      <p:pic>
        <p:nvPicPr>
          <p:cNvPr id="9" name="תמונה 8">
            <a:extLst>
              <a:ext uri="{FF2B5EF4-FFF2-40B4-BE49-F238E27FC236}">
                <a16:creationId xmlns:a16="http://schemas.microsoft.com/office/drawing/2014/main" id="{5F3564E2-F745-2E9B-1D4A-1239FEE1754F}"/>
              </a:ext>
            </a:extLst>
          </p:cNvPr>
          <p:cNvPicPr>
            <a:picLocks noChangeAspect="1"/>
          </p:cNvPicPr>
          <p:nvPr/>
        </p:nvPicPr>
        <p:blipFill>
          <a:blip r:embed="rId5"/>
          <a:stretch>
            <a:fillRect/>
          </a:stretch>
        </p:blipFill>
        <p:spPr>
          <a:xfrm>
            <a:off x="888894" y="1041023"/>
            <a:ext cx="10853767" cy="757239"/>
          </a:xfrm>
          <a:prstGeom prst="rect">
            <a:avLst/>
          </a:prstGeom>
        </p:spPr>
      </p:pic>
      <p:sp>
        <p:nvSpPr>
          <p:cNvPr id="10" name="תיבת טקסט 9">
            <a:extLst>
              <a:ext uri="{FF2B5EF4-FFF2-40B4-BE49-F238E27FC236}">
                <a16:creationId xmlns:a16="http://schemas.microsoft.com/office/drawing/2014/main" id="{595CC6F8-1DDD-BEAD-0715-81C0E7093C08}"/>
              </a:ext>
            </a:extLst>
          </p:cNvPr>
          <p:cNvSpPr txBox="1"/>
          <p:nvPr/>
        </p:nvSpPr>
        <p:spPr>
          <a:xfrm>
            <a:off x="6307932" y="2296805"/>
            <a:ext cx="5579268" cy="2862322"/>
          </a:xfrm>
          <a:prstGeom prst="rect">
            <a:avLst/>
          </a:prstGeom>
          <a:solidFill>
            <a:srgbClr val="F2F1EB"/>
          </a:solidFill>
        </p:spPr>
        <p:txBody>
          <a:bodyPr wrap="square" rtlCol="1">
            <a:spAutoFit/>
          </a:bodyPr>
          <a:lstStyle/>
          <a:p>
            <a:pPr marL="285750" indent="-285750">
              <a:buFont typeface="Arial" panose="020B0604020202020204" pitchFamily="34" charset="0"/>
              <a:buChar char="•"/>
            </a:pPr>
            <a:r>
              <a:rPr lang="en-US" b="1" dirty="0"/>
              <a:t>K-Means</a:t>
            </a:r>
            <a:r>
              <a:rPr lang="he-IL" dirty="0"/>
              <a:t>:</a:t>
            </a:r>
            <a:r>
              <a:rPr lang="he-IL" dirty="0" err="1"/>
              <a:t>הלזיהוי</a:t>
            </a:r>
            <a:r>
              <a:rPr lang="he-IL" dirty="0"/>
              <a:t> אב טיפוסים של קווי תעופה</a:t>
            </a:r>
          </a:p>
          <a:p>
            <a:pPr marL="285750" indent="-285750">
              <a:buFont typeface="Arial" panose="020B0604020202020204" pitchFamily="34" charset="0"/>
              <a:buChar char="•"/>
            </a:pPr>
            <a:r>
              <a:rPr lang="en-US" b="1" dirty="0"/>
              <a:t>DBSCAN</a:t>
            </a:r>
            <a:r>
              <a:rPr lang="he-IL" b="1" dirty="0"/>
              <a:t>: </a:t>
            </a:r>
            <a:r>
              <a:rPr lang="he-IL" dirty="0"/>
              <a:t>לזיהוי קבוצות מבוססות צפיפות ואיתור חריגות</a:t>
            </a:r>
          </a:p>
          <a:p>
            <a:pPr marL="285750" indent="-285750">
              <a:buFont typeface="Arial" panose="020B0604020202020204" pitchFamily="34" charset="0"/>
              <a:buChar char="•"/>
            </a:pPr>
            <a:r>
              <a:rPr lang="en-US" b="1" dirty="0" err="1"/>
              <a:t>Hierachical</a:t>
            </a:r>
            <a:r>
              <a:rPr lang="en-US" b="1" dirty="0"/>
              <a:t> </a:t>
            </a:r>
            <a:r>
              <a:rPr lang="en-US" b="1" dirty="0" err="1"/>
              <a:t>Clustrering</a:t>
            </a:r>
            <a:r>
              <a:rPr lang="he-IL" b="1" dirty="0"/>
              <a:t>: </a:t>
            </a:r>
            <a:r>
              <a:rPr lang="he-IL" dirty="0"/>
              <a:t>נבחן ונפסל עקב סיבוכיות חישובית גבוהה.</a:t>
            </a:r>
          </a:p>
          <a:p>
            <a:pPr marL="285750" indent="-285750">
              <a:buFont typeface="Arial" panose="020B0604020202020204" pitchFamily="34" charset="0"/>
              <a:buChar char="•"/>
            </a:pPr>
            <a:endParaRPr lang="he-IL" dirty="0"/>
          </a:p>
          <a:p>
            <a:pPr marL="285750" indent="-285750">
              <a:buFont typeface="Arial" panose="020B0604020202020204" pitchFamily="34" charset="0"/>
              <a:buChar char="•"/>
            </a:pPr>
            <a:endParaRPr lang="he-IL" dirty="0"/>
          </a:p>
          <a:p>
            <a:endParaRPr lang="he-IL" dirty="0"/>
          </a:p>
          <a:p>
            <a:pPr marL="285750" indent="-285750">
              <a:buFont typeface="Arial" panose="020B0604020202020204" pitchFamily="34" charset="0"/>
              <a:buChar char="•"/>
            </a:pPr>
            <a:endParaRPr lang="he-IL" dirty="0"/>
          </a:p>
          <a:p>
            <a:pPr marL="285750" indent="-285750">
              <a:buFont typeface="Arial" panose="020B0604020202020204" pitchFamily="34" charset="0"/>
              <a:buChar char="•"/>
            </a:pPr>
            <a:endParaRPr lang="he-IL" dirty="0"/>
          </a:p>
          <a:p>
            <a:endParaRPr lang="he-IL" dirty="0"/>
          </a:p>
        </p:txBody>
      </p:sp>
    </p:spTree>
    <p:extLst>
      <p:ext uri="{BB962C8B-B14F-4D97-AF65-F5344CB8AC3E}">
        <p14:creationId xmlns:p14="http://schemas.microsoft.com/office/powerpoint/2010/main" val="36756926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גופן, מסמך&#10;&#10;תוכן בינה מלאכותית גנרטיבית עשוי להיות שגוי.">
            <a:extLst>
              <a:ext uri="{FF2B5EF4-FFF2-40B4-BE49-F238E27FC236}">
                <a16:creationId xmlns:a16="http://schemas.microsoft.com/office/drawing/2014/main" id="{F8B774FE-A0E1-EB9B-6AF1-43535F853150}"/>
              </a:ext>
            </a:extLst>
          </p:cNvPr>
          <p:cNvPicPr>
            <a:picLocks noChangeAspect="1"/>
          </p:cNvPicPr>
          <p:nvPr/>
        </p:nvPicPr>
        <p:blipFill>
          <a:blip r:embed="rId3"/>
          <a:stretch>
            <a:fillRect/>
          </a:stretch>
        </p:blipFill>
        <p:spPr>
          <a:xfrm>
            <a:off x="0" y="0"/>
            <a:ext cx="12191999" cy="6858000"/>
          </a:xfrm>
          <a:prstGeom prst="rect">
            <a:avLst/>
          </a:prstGeom>
        </p:spPr>
      </p:pic>
      <p:pic>
        <p:nvPicPr>
          <p:cNvPr id="7" name="תמונה 6" descr="תמונה שמכילה גופן, טקסט, לבן, טיפוגרפיה&#10;&#10;תוכן בינה מלאכותית גנרטיבית עשוי להיות שגוי.">
            <a:extLst>
              <a:ext uri="{FF2B5EF4-FFF2-40B4-BE49-F238E27FC236}">
                <a16:creationId xmlns:a16="http://schemas.microsoft.com/office/drawing/2014/main" id="{EBE02CE2-6326-5F64-D3B1-1D39CF285E9D}"/>
              </a:ext>
            </a:extLst>
          </p:cNvPr>
          <p:cNvPicPr>
            <a:picLocks noChangeAspect="1"/>
          </p:cNvPicPr>
          <p:nvPr/>
        </p:nvPicPr>
        <p:blipFill>
          <a:blip r:embed="rId4"/>
          <a:stretch>
            <a:fillRect/>
          </a:stretch>
        </p:blipFill>
        <p:spPr>
          <a:xfrm>
            <a:off x="6291530" y="383287"/>
            <a:ext cx="5661665" cy="976875"/>
          </a:xfrm>
          <a:prstGeom prst="rect">
            <a:avLst/>
          </a:prstGeom>
        </p:spPr>
      </p:pic>
      <p:sp>
        <p:nvSpPr>
          <p:cNvPr id="8" name="תיבת טקסט 7">
            <a:extLst>
              <a:ext uri="{FF2B5EF4-FFF2-40B4-BE49-F238E27FC236}">
                <a16:creationId xmlns:a16="http://schemas.microsoft.com/office/drawing/2014/main" id="{11170AAA-D590-1945-8CEB-15F0A3A7C0E1}"/>
              </a:ext>
            </a:extLst>
          </p:cNvPr>
          <p:cNvSpPr txBox="1"/>
          <p:nvPr/>
        </p:nvSpPr>
        <p:spPr>
          <a:xfrm>
            <a:off x="397565" y="454360"/>
            <a:ext cx="6082748" cy="976875"/>
          </a:xfrm>
          <a:prstGeom prst="rect">
            <a:avLst/>
          </a:prstGeom>
          <a:solidFill>
            <a:srgbClr val="F2F1EC"/>
          </a:solidFill>
        </p:spPr>
        <p:txBody>
          <a:bodyPr wrap="square" rtlCol="1">
            <a:spAutoFit/>
          </a:bodyPr>
          <a:lstStyle/>
          <a:p>
            <a:endParaRPr lang="he-IL" dirty="0"/>
          </a:p>
        </p:txBody>
      </p:sp>
    </p:spTree>
    <p:extLst>
      <p:ext uri="{BB962C8B-B14F-4D97-AF65-F5344CB8AC3E}">
        <p14:creationId xmlns:p14="http://schemas.microsoft.com/office/powerpoint/2010/main" val="39819231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גופן, מספר&#10;&#10;תוכן בינה מלאכותית גנרטיבית עשוי להיות שגוי.">
            <a:extLst>
              <a:ext uri="{FF2B5EF4-FFF2-40B4-BE49-F238E27FC236}">
                <a16:creationId xmlns:a16="http://schemas.microsoft.com/office/drawing/2014/main" id="{E59E5ADB-6230-0B2E-EA30-D51871D23F26}"/>
              </a:ext>
            </a:extLst>
          </p:cNvPr>
          <p:cNvPicPr>
            <a:picLocks noChangeAspect="1"/>
          </p:cNvPicPr>
          <p:nvPr/>
        </p:nvPicPr>
        <p:blipFill>
          <a:blip r:embed="rId3"/>
          <a:stretch>
            <a:fillRect/>
          </a:stretch>
        </p:blipFill>
        <p:spPr>
          <a:xfrm>
            <a:off x="-86264" y="0"/>
            <a:ext cx="12278264" cy="6858000"/>
          </a:xfrm>
          <a:prstGeom prst="rect">
            <a:avLst/>
          </a:prstGeom>
        </p:spPr>
      </p:pic>
    </p:spTree>
    <p:extLst>
      <p:ext uri="{BB962C8B-B14F-4D97-AF65-F5344CB8AC3E}">
        <p14:creationId xmlns:p14="http://schemas.microsoft.com/office/powerpoint/2010/main" val="4341386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תרשים, מקביל&#10;&#10;תוכן בינה מלאכותית גנרטיבית עשוי להיות שגוי.">
            <a:extLst>
              <a:ext uri="{FF2B5EF4-FFF2-40B4-BE49-F238E27FC236}">
                <a16:creationId xmlns:a16="http://schemas.microsoft.com/office/drawing/2014/main" id="{760B003C-E994-235C-7C33-FDA3FA9B7D3D}"/>
              </a:ext>
            </a:extLst>
          </p:cNvPr>
          <p:cNvPicPr>
            <a:picLocks noChangeAspect="1"/>
          </p:cNvPicPr>
          <p:nvPr/>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1723745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גופן, מספר&#10;&#10;תוכן בינה מלאכותית גנרטיבית עשוי להיות שגוי.">
            <a:extLst>
              <a:ext uri="{FF2B5EF4-FFF2-40B4-BE49-F238E27FC236}">
                <a16:creationId xmlns:a16="http://schemas.microsoft.com/office/drawing/2014/main" id="{1113649C-C293-B0DB-2D00-F2BFC5A555DC}"/>
              </a:ext>
            </a:extLst>
          </p:cNvPr>
          <p:cNvPicPr>
            <a:picLocks noChangeAspect="1"/>
          </p:cNvPicPr>
          <p:nvPr/>
        </p:nvPicPr>
        <p:blipFill>
          <a:blip r:embed="rId3"/>
          <a:stretch>
            <a:fillRect/>
          </a:stretch>
        </p:blipFill>
        <p:spPr>
          <a:xfrm>
            <a:off x="-181133" y="0"/>
            <a:ext cx="12554263" cy="6858000"/>
          </a:xfrm>
          <a:prstGeom prst="rect">
            <a:avLst/>
          </a:prstGeom>
        </p:spPr>
      </p:pic>
      <p:pic>
        <p:nvPicPr>
          <p:cNvPr id="7" name="תמונה 6" descr="תמונה שמכילה טקסט, צילום מסך, תרשים, קו&#10;&#10;תוכן בינה מלאכותית גנרטיבית עשוי להיות שגוי.">
            <a:extLst>
              <a:ext uri="{FF2B5EF4-FFF2-40B4-BE49-F238E27FC236}">
                <a16:creationId xmlns:a16="http://schemas.microsoft.com/office/drawing/2014/main" id="{8453E369-CED6-E544-37FE-B725B5FF1D8A}"/>
              </a:ext>
            </a:extLst>
          </p:cNvPr>
          <p:cNvPicPr>
            <a:picLocks noChangeAspect="1"/>
          </p:cNvPicPr>
          <p:nvPr/>
        </p:nvPicPr>
        <p:blipFill>
          <a:blip r:embed="rId4"/>
          <a:stretch>
            <a:fillRect/>
          </a:stretch>
        </p:blipFill>
        <p:spPr>
          <a:xfrm>
            <a:off x="6539608" y="1459687"/>
            <a:ext cx="5652392" cy="5334019"/>
          </a:xfrm>
          <a:prstGeom prst="rect">
            <a:avLst/>
          </a:prstGeom>
        </p:spPr>
      </p:pic>
      <p:pic>
        <p:nvPicPr>
          <p:cNvPr id="9" name="תמונה 8" descr="תמונה שמכילה טקסט, גופן, לבן, קליגרפיה&#10;&#10;תוכן בינה מלאכותית גנרטיבית עשוי להיות שגוי.">
            <a:extLst>
              <a:ext uri="{FF2B5EF4-FFF2-40B4-BE49-F238E27FC236}">
                <a16:creationId xmlns:a16="http://schemas.microsoft.com/office/drawing/2014/main" id="{CC944369-69C0-11B1-1749-C4E38DFD4D37}"/>
              </a:ext>
            </a:extLst>
          </p:cNvPr>
          <p:cNvPicPr>
            <a:picLocks noChangeAspect="1"/>
          </p:cNvPicPr>
          <p:nvPr/>
        </p:nvPicPr>
        <p:blipFill>
          <a:blip r:embed="rId5"/>
          <a:stretch>
            <a:fillRect/>
          </a:stretch>
        </p:blipFill>
        <p:spPr>
          <a:xfrm>
            <a:off x="707232" y="2818795"/>
            <a:ext cx="5150656" cy="650084"/>
          </a:xfrm>
          <a:prstGeom prst="rect">
            <a:avLst/>
          </a:prstGeom>
        </p:spPr>
      </p:pic>
      <p:pic>
        <p:nvPicPr>
          <p:cNvPr id="11" name="תמונה 10" descr="תמונה שמכילה טקסט, גופן, לבן, קליגרפיה&#10;&#10;תוכן בינה מלאכותית גנרטיבית עשוי להיות שגוי.">
            <a:extLst>
              <a:ext uri="{FF2B5EF4-FFF2-40B4-BE49-F238E27FC236}">
                <a16:creationId xmlns:a16="http://schemas.microsoft.com/office/drawing/2014/main" id="{43B46A2B-74AC-E4C4-37F1-2322D47259CC}"/>
              </a:ext>
            </a:extLst>
          </p:cNvPr>
          <p:cNvPicPr>
            <a:picLocks noChangeAspect="1"/>
          </p:cNvPicPr>
          <p:nvPr/>
        </p:nvPicPr>
        <p:blipFill>
          <a:blip r:embed="rId6"/>
          <a:stretch>
            <a:fillRect/>
          </a:stretch>
        </p:blipFill>
        <p:spPr>
          <a:xfrm>
            <a:off x="1088232" y="3544636"/>
            <a:ext cx="4769656" cy="643099"/>
          </a:xfrm>
          <a:prstGeom prst="rect">
            <a:avLst/>
          </a:prstGeom>
        </p:spPr>
      </p:pic>
      <p:pic>
        <p:nvPicPr>
          <p:cNvPr id="13" name="תמונה 12">
            <a:extLst>
              <a:ext uri="{FF2B5EF4-FFF2-40B4-BE49-F238E27FC236}">
                <a16:creationId xmlns:a16="http://schemas.microsoft.com/office/drawing/2014/main" id="{C66981D9-301B-F354-D40C-AD6D0BE46D19}"/>
              </a:ext>
            </a:extLst>
          </p:cNvPr>
          <p:cNvPicPr>
            <a:picLocks noChangeAspect="1"/>
          </p:cNvPicPr>
          <p:nvPr/>
        </p:nvPicPr>
        <p:blipFill>
          <a:blip r:embed="rId7"/>
          <a:stretch>
            <a:fillRect/>
          </a:stretch>
        </p:blipFill>
        <p:spPr>
          <a:xfrm>
            <a:off x="323850" y="4592084"/>
            <a:ext cx="5534038" cy="323838"/>
          </a:xfrm>
          <a:prstGeom prst="rect">
            <a:avLst/>
          </a:prstGeom>
        </p:spPr>
      </p:pic>
      <p:sp>
        <p:nvSpPr>
          <p:cNvPr id="14" name="תיבת טקסט 13">
            <a:extLst>
              <a:ext uri="{FF2B5EF4-FFF2-40B4-BE49-F238E27FC236}">
                <a16:creationId xmlns:a16="http://schemas.microsoft.com/office/drawing/2014/main" id="{E08D28B1-3ECD-F7FA-AF6C-CE1E72020AE9}"/>
              </a:ext>
            </a:extLst>
          </p:cNvPr>
          <p:cNvSpPr txBox="1"/>
          <p:nvPr/>
        </p:nvSpPr>
        <p:spPr>
          <a:xfrm>
            <a:off x="-140645" y="4187735"/>
            <a:ext cx="6039021" cy="646331"/>
          </a:xfrm>
          <a:prstGeom prst="rect">
            <a:avLst/>
          </a:prstGeom>
          <a:solidFill>
            <a:srgbClr val="F2EEE8"/>
          </a:solidFill>
        </p:spPr>
        <p:txBody>
          <a:bodyPr wrap="square" rtlCol="1">
            <a:spAutoFit/>
          </a:bodyPr>
          <a:lstStyle/>
          <a:p>
            <a:r>
              <a:rPr lang="he-IL" b="1" dirty="0">
                <a:latin typeface="Guttman Miryam" panose="02010301010101010101" pitchFamily="2" charset="-79"/>
                <a:cs typeface="Guttman Miryam" panose="02010301010101010101" pitchFamily="2" charset="-79"/>
              </a:rPr>
              <a:t>שנת הטיסה (</a:t>
            </a:r>
            <a:r>
              <a:rPr lang="en-US" b="1" dirty="0">
                <a:cs typeface="Guttman Miryam" panose="02010301010101010101" pitchFamily="2" charset="-79"/>
              </a:rPr>
              <a:t>year</a:t>
            </a:r>
            <a:r>
              <a:rPr lang="he-IL" b="1" dirty="0">
                <a:latin typeface="Guttman Miryam" panose="02010301010101010101" pitchFamily="2" charset="-79"/>
                <a:cs typeface="Guttman Miryam" panose="02010301010101010101" pitchFamily="2" charset="-79"/>
              </a:rPr>
              <a:t>): </a:t>
            </a:r>
            <a:r>
              <a:rPr lang="he-IL" dirty="0">
                <a:latin typeface="Guttman Miryam" panose="02010301010101010101" pitchFamily="2" charset="-79"/>
                <a:cs typeface="Guttman Miryam" panose="02010301010101010101" pitchFamily="2" charset="-79"/>
              </a:rPr>
              <a:t>משקפת מגמות זמן ושינויים כלליים במחירי הטיסות לאורך השנים.</a:t>
            </a:r>
          </a:p>
        </p:txBody>
      </p:sp>
      <p:pic>
        <p:nvPicPr>
          <p:cNvPr id="16" name="תמונה 15">
            <a:extLst>
              <a:ext uri="{FF2B5EF4-FFF2-40B4-BE49-F238E27FC236}">
                <a16:creationId xmlns:a16="http://schemas.microsoft.com/office/drawing/2014/main" id="{4979D805-9CEB-02BF-50B1-CBC779F46295}"/>
              </a:ext>
            </a:extLst>
          </p:cNvPr>
          <p:cNvPicPr>
            <a:picLocks noChangeAspect="1"/>
          </p:cNvPicPr>
          <p:nvPr/>
        </p:nvPicPr>
        <p:blipFill>
          <a:blip r:embed="rId8"/>
          <a:stretch>
            <a:fillRect/>
          </a:stretch>
        </p:blipFill>
        <p:spPr>
          <a:xfrm>
            <a:off x="885825" y="4812394"/>
            <a:ext cx="5218527" cy="359471"/>
          </a:xfrm>
          <a:prstGeom prst="rect">
            <a:avLst/>
          </a:prstGeom>
        </p:spPr>
      </p:pic>
      <p:sp>
        <p:nvSpPr>
          <p:cNvPr id="17" name="תיבת טקסט 16">
            <a:extLst>
              <a:ext uri="{FF2B5EF4-FFF2-40B4-BE49-F238E27FC236}">
                <a16:creationId xmlns:a16="http://schemas.microsoft.com/office/drawing/2014/main" id="{3A604926-AF1F-DE60-306B-5BE4B1C43AB6}"/>
              </a:ext>
            </a:extLst>
          </p:cNvPr>
          <p:cNvSpPr txBox="1"/>
          <p:nvPr/>
        </p:nvSpPr>
        <p:spPr>
          <a:xfrm>
            <a:off x="5857888" y="4514846"/>
            <a:ext cx="238112" cy="315988"/>
          </a:xfrm>
          <a:prstGeom prst="rect">
            <a:avLst/>
          </a:prstGeom>
          <a:solidFill>
            <a:srgbClr val="F3F0E8"/>
          </a:solidFill>
        </p:spPr>
        <p:txBody>
          <a:bodyPr wrap="square" rtlCol="1">
            <a:spAutoFit/>
          </a:bodyPr>
          <a:lstStyle/>
          <a:p>
            <a:endParaRPr lang="he-IL" dirty="0"/>
          </a:p>
        </p:txBody>
      </p:sp>
    </p:spTree>
    <p:extLst>
      <p:ext uri="{BB962C8B-B14F-4D97-AF65-F5344CB8AC3E}">
        <p14:creationId xmlns:p14="http://schemas.microsoft.com/office/powerpoint/2010/main" val="41250660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גופן&#10;&#10;תוכן בינה מלאכותית גנרטיבית עשוי להיות שגוי.">
            <a:extLst>
              <a:ext uri="{FF2B5EF4-FFF2-40B4-BE49-F238E27FC236}">
                <a16:creationId xmlns:a16="http://schemas.microsoft.com/office/drawing/2014/main" id="{28E0AAA3-8FA1-1301-4D9F-9FBC286CD59E}"/>
              </a:ext>
            </a:extLst>
          </p:cNvPr>
          <p:cNvPicPr>
            <a:picLocks noChangeAspect="1"/>
          </p:cNvPicPr>
          <p:nvPr/>
        </p:nvPicPr>
        <p:blipFill>
          <a:blip r:embed="rId3"/>
          <a:stretch>
            <a:fillRect/>
          </a:stretch>
        </p:blipFill>
        <p:spPr>
          <a:xfrm>
            <a:off x="-71438" y="0"/>
            <a:ext cx="12238296" cy="6858000"/>
          </a:xfrm>
          <a:prstGeom prst="rect">
            <a:avLst/>
          </a:prstGeom>
        </p:spPr>
      </p:pic>
      <p:sp>
        <p:nvSpPr>
          <p:cNvPr id="11" name="תיבת טקסט 10">
            <a:extLst>
              <a:ext uri="{FF2B5EF4-FFF2-40B4-BE49-F238E27FC236}">
                <a16:creationId xmlns:a16="http://schemas.microsoft.com/office/drawing/2014/main" id="{3F69918B-A593-9C43-87EA-BF730B87029B}"/>
              </a:ext>
            </a:extLst>
          </p:cNvPr>
          <p:cNvSpPr txBox="1"/>
          <p:nvPr/>
        </p:nvSpPr>
        <p:spPr>
          <a:xfrm>
            <a:off x="328614" y="1671638"/>
            <a:ext cx="11522868" cy="5100638"/>
          </a:xfrm>
          <a:prstGeom prst="rect">
            <a:avLst/>
          </a:prstGeom>
          <a:solidFill>
            <a:srgbClr val="F3F0E8"/>
          </a:solidFill>
        </p:spPr>
        <p:txBody>
          <a:bodyPr wrap="square" rtlCol="1">
            <a:spAutoFit/>
          </a:bodyPr>
          <a:lstStyle/>
          <a:p>
            <a:endParaRPr lang="he-IL" dirty="0"/>
          </a:p>
        </p:txBody>
      </p:sp>
      <p:pic>
        <p:nvPicPr>
          <p:cNvPr id="10" name="תמונה 9" descr="תמונה שמכילה טקסט, צילום מסך, גופן, מספר&#10;&#10;תוכן בינה מלאכותית גנרטיבית עשוי להיות שגוי.">
            <a:extLst>
              <a:ext uri="{FF2B5EF4-FFF2-40B4-BE49-F238E27FC236}">
                <a16:creationId xmlns:a16="http://schemas.microsoft.com/office/drawing/2014/main" id="{2CAAC7E5-C601-9428-5C10-DCBB863944DE}"/>
              </a:ext>
            </a:extLst>
          </p:cNvPr>
          <p:cNvPicPr>
            <a:picLocks noChangeAspect="1"/>
          </p:cNvPicPr>
          <p:nvPr/>
        </p:nvPicPr>
        <p:blipFill>
          <a:blip r:embed="rId4"/>
          <a:stretch>
            <a:fillRect/>
          </a:stretch>
        </p:blipFill>
        <p:spPr>
          <a:xfrm>
            <a:off x="25143" y="1871660"/>
            <a:ext cx="7143520" cy="4456030"/>
          </a:xfrm>
          <a:prstGeom prst="rect">
            <a:avLst/>
          </a:prstGeom>
        </p:spPr>
      </p:pic>
      <p:pic>
        <p:nvPicPr>
          <p:cNvPr id="7" name="תמונה 6" descr="תמונה שמכילה טקסט, צילום מסך, תרשים, עלילה&#10;&#10;תוכן בינה מלאכותית גנרטיבית עשוי להיות שגוי.">
            <a:extLst>
              <a:ext uri="{FF2B5EF4-FFF2-40B4-BE49-F238E27FC236}">
                <a16:creationId xmlns:a16="http://schemas.microsoft.com/office/drawing/2014/main" id="{CE521EFC-55CF-122F-2FE8-3C3BB654972F}"/>
              </a:ext>
            </a:extLst>
          </p:cNvPr>
          <p:cNvPicPr>
            <a:picLocks noChangeAspect="1"/>
          </p:cNvPicPr>
          <p:nvPr/>
        </p:nvPicPr>
        <p:blipFill>
          <a:blip r:embed="rId5"/>
          <a:stretch>
            <a:fillRect/>
          </a:stretch>
        </p:blipFill>
        <p:spPr>
          <a:xfrm>
            <a:off x="7378586" y="2446707"/>
            <a:ext cx="4630584" cy="2969437"/>
          </a:xfrm>
          <a:prstGeom prst="rect">
            <a:avLst/>
          </a:prstGeom>
        </p:spPr>
      </p:pic>
    </p:spTree>
    <p:extLst>
      <p:ext uri="{BB962C8B-B14F-4D97-AF65-F5344CB8AC3E}">
        <p14:creationId xmlns:p14="http://schemas.microsoft.com/office/powerpoint/2010/main" val="34944563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תמונה 4" descr="תמונה שמכילה טקסט, צילום מסך, תרשים, מקביל&#10;&#10;תוכן בינה מלאכותית גנרטיבית עשוי להיות שגוי.">
            <a:extLst>
              <a:ext uri="{FF2B5EF4-FFF2-40B4-BE49-F238E27FC236}">
                <a16:creationId xmlns:a16="http://schemas.microsoft.com/office/drawing/2014/main" id="{EF8837B3-589B-9921-3A9D-1DC00C49504F}"/>
              </a:ext>
            </a:extLst>
          </p:cNvPr>
          <p:cNvPicPr>
            <a:picLocks noChangeAspect="1"/>
          </p:cNvPicPr>
          <p:nvPr/>
        </p:nvPicPr>
        <p:blipFill>
          <a:blip r:embed="rId3"/>
          <a:stretch>
            <a:fillRect/>
          </a:stretch>
        </p:blipFill>
        <p:spPr>
          <a:xfrm>
            <a:off x="0" y="0"/>
            <a:ext cx="12192000" cy="6858000"/>
          </a:xfrm>
          <a:prstGeom prst="rect">
            <a:avLst/>
          </a:prstGeom>
        </p:spPr>
      </p:pic>
      <p:sp>
        <p:nvSpPr>
          <p:cNvPr id="6" name="תיבת טקסט 5">
            <a:extLst>
              <a:ext uri="{FF2B5EF4-FFF2-40B4-BE49-F238E27FC236}">
                <a16:creationId xmlns:a16="http://schemas.microsoft.com/office/drawing/2014/main" id="{83C8D4CA-1193-284B-22ED-275928303581}"/>
              </a:ext>
            </a:extLst>
          </p:cNvPr>
          <p:cNvSpPr txBox="1"/>
          <p:nvPr/>
        </p:nvSpPr>
        <p:spPr>
          <a:xfrm>
            <a:off x="1" y="0"/>
            <a:ext cx="12101512" cy="6858000"/>
          </a:xfrm>
          <a:prstGeom prst="rect">
            <a:avLst/>
          </a:prstGeom>
          <a:solidFill>
            <a:srgbClr val="F2EEE8"/>
          </a:solidFill>
        </p:spPr>
        <p:txBody>
          <a:bodyPr wrap="square" rtlCol="1">
            <a:spAutoFit/>
          </a:bodyPr>
          <a:lstStyle/>
          <a:p>
            <a:endParaRPr lang="he-IL" dirty="0"/>
          </a:p>
        </p:txBody>
      </p:sp>
      <p:sp>
        <p:nvSpPr>
          <p:cNvPr id="7" name="תיבת טקסט 6">
            <a:extLst>
              <a:ext uri="{FF2B5EF4-FFF2-40B4-BE49-F238E27FC236}">
                <a16:creationId xmlns:a16="http://schemas.microsoft.com/office/drawing/2014/main" id="{3363AEB1-95DC-DD4E-CF36-503F231C883A}"/>
              </a:ext>
            </a:extLst>
          </p:cNvPr>
          <p:cNvSpPr txBox="1"/>
          <p:nvPr/>
        </p:nvSpPr>
        <p:spPr>
          <a:xfrm>
            <a:off x="540590" y="344948"/>
            <a:ext cx="11336180" cy="646331"/>
          </a:xfrm>
          <a:prstGeom prst="rect">
            <a:avLst/>
          </a:prstGeom>
          <a:solidFill>
            <a:srgbClr val="F1F0EB"/>
          </a:solidFill>
        </p:spPr>
        <p:txBody>
          <a:bodyPr wrap="square" rtlCol="1">
            <a:spAutoFit/>
          </a:bodyPr>
          <a:lstStyle/>
          <a:p>
            <a:r>
              <a:rPr lang="he-IL" sz="3600" b="1" dirty="0">
                <a:solidFill>
                  <a:schemeClr val="tx2">
                    <a:lumMod val="75000"/>
                    <a:lumOff val="25000"/>
                  </a:schemeClr>
                </a:solidFill>
              </a:rPr>
              <a:t>השוואה וניתוח טכניקות:</a:t>
            </a:r>
            <a:endParaRPr lang="en-US" sz="3600" b="1" dirty="0">
              <a:solidFill>
                <a:schemeClr val="tx2">
                  <a:lumMod val="75000"/>
                  <a:lumOff val="25000"/>
                </a:schemeClr>
              </a:solidFill>
            </a:endParaRPr>
          </a:p>
        </p:txBody>
      </p:sp>
      <p:sp>
        <p:nvSpPr>
          <p:cNvPr id="8" name="תיבת טקסט 7">
            <a:extLst>
              <a:ext uri="{FF2B5EF4-FFF2-40B4-BE49-F238E27FC236}">
                <a16:creationId xmlns:a16="http://schemas.microsoft.com/office/drawing/2014/main" id="{579DEEC9-FF7A-310F-8E79-56EE0F92C099}"/>
              </a:ext>
            </a:extLst>
          </p:cNvPr>
          <p:cNvSpPr txBox="1"/>
          <p:nvPr/>
        </p:nvSpPr>
        <p:spPr>
          <a:xfrm>
            <a:off x="427910" y="1185862"/>
            <a:ext cx="11336180" cy="3754874"/>
          </a:xfrm>
          <a:prstGeom prst="rect">
            <a:avLst/>
          </a:prstGeom>
          <a:noFill/>
        </p:spPr>
        <p:txBody>
          <a:bodyPr wrap="square" rtlCol="1">
            <a:spAutoFit/>
          </a:bodyPr>
          <a:lstStyle/>
          <a:p>
            <a:pPr marL="285750" indent="-285750">
              <a:buFont typeface="Arial" panose="020B0604020202020204" pitchFamily="34" charset="0"/>
              <a:buChar char="•"/>
            </a:pPr>
            <a:r>
              <a:rPr lang="he-IL" sz="2000" b="1" dirty="0"/>
              <a:t>ליניארי מול לא-ליניארי: </a:t>
            </a:r>
            <a:r>
              <a:rPr lang="he-IL" sz="2000" dirty="0"/>
              <a:t>המודלים הליניאריים </a:t>
            </a:r>
            <a:r>
              <a:rPr lang="en-US" sz="2000" dirty="0"/>
              <a:t>(Logistic Regression, SVM) </a:t>
            </a:r>
            <a:r>
              <a:rPr lang="he-IL" sz="2000" dirty="0"/>
              <a:t> הגיעו ל"תקרת זכוכית" </a:t>
            </a:r>
            <a:r>
              <a:rPr lang="en-US" sz="2000" dirty="0"/>
              <a:t>(</a:t>
            </a:r>
            <a:r>
              <a:rPr lang="en-US" sz="2000" b="1" dirty="0"/>
              <a:t>F1 ~0.66</a:t>
            </a:r>
            <a:r>
              <a:rPr lang="en-US" sz="2000" dirty="0"/>
              <a:t>)</a:t>
            </a:r>
          </a:p>
          <a:p>
            <a:pPr lvl="1"/>
            <a:r>
              <a:rPr lang="he-IL" sz="2000" dirty="0"/>
              <a:t>מודלים מבוססי-עצים (</a:t>
            </a:r>
            <a:r>
              <a:rPr lang="en-US" sz="2000" dirty="0"/>
              <a:t>(RF, </a:t>
            </a:r>
            <a:r>
              <a:rPr lang="en-US" sz="2000" dirty="0" err="1"/>
              <a:t>XGBoost</a:t>
            </a:r>
            <a:r>
              <a:rPr lang="en-US" sz="2000" dirty="0"/>
              <a:t>) </a:t>
            </a:r>
            <a:r>
              <a:rPr lang="he-IL" sz="2000" dirty="0"/>
              <a:t> שברו את התקרה </a:t>
            </a:r>
            <a:r>
              <a:rPr lang="en-US" sz="2000" b="1" dirty="0"/>
              <a:t>F1 &gt; 0.72)</a:t>
            </a:r>
            <a:r>
              <a:rPr lang="he-IL" sz="2000" dirty="0"/>
              <a:t>)</a:t>
            </a:r>
            <a:endParaRPr lang="en-US" sz="2000" dirty="0"/>
          </a:p>
          <a:p>
            <a:pPr lvl="1"/>
            <a:r>
              <a:rPr lang="he-IL" sz="2000" b="1" dirty="0"/>
              <a:t>המסקנה:</a:t>
            </a:r>
            <a:r>
              <a:rPr lang="he-IL" sz="2000" dirty="0"/>
              <a:t> שוק התעופה מאופיין בקשרים מורכבים ואינטראקציות שקו ישר אינו יכול לייצג.</a:t>
            </a:r>
          </a:p>
          <a:p>
            <a:pPr lvl="1"/>
            <a:endParaRPr lang="he-IL" sz="2000" dirty="0"/>
          </a:p>
          <a:p>
            <a:pPr marL="285750" indent="-285750">
              <a:buFont typeface="Arial" panose="020B0604020202020204" pitchFamily="34" charset="0"/>
              <a:buChar char="•"/>
            </a:pPr>
            <a:r>
              <a:rPr lang="he-IL" sz="2000" b="1" dirty="0"/>
              <a:t>השפעת האופטימיזציה: </a:t>
            </a:r>
            <a:r>
              <a:rPr lang="he-IL" sz="2000" dirty="0"/>
              <a:t>השיפור בביצועים בין מודל הבסיס למודל המכוונן היה מינורי.</a:t>
            </a:r>
          </a:p>
          <a:p>
            <a:pPr lvl="1"/>
            <a:r>
              <a:rPr lang="he-IL" sz="2000" b="1" dirty="0"/>
              <a:t>המסקנה:</a:t>
            </a:r>
            <a:r>
              <a:rPr lang="he-IL" sz="2000" dirty="0"/>
              <a:t> המודל הגיע ל</a:t>
            </a:r>
            <a:r>
              <a:rPr lang="he-IL" sz="2000" b="1" dirty="0"/>
              <a:t>מיצוי הפוטנציאל</a:t>
            </a:r>
            <a:r>
              <a:rPr lang="he-IL" sz="2000" dirty="0"/>
              <a:t> של הנתונים </a:t>
            </a:r>
            <a:r>
              <a:rPr lang="en-US" sz="2000" dirty="0"/>
              <a:t>). </a:t>
            </a:r>
            <a:r>
              <a:rPr lang="he-IL" sz="2000" dirty="0"/>
              <a:t>תהליך הכיוונון שימש כאימות לכך שהתוצאות הגבוהות הן אמיתיות ויציבות </a:t>
            </a:r>
            <a:r>
              <a:rPr lang="en-US" sz="2000" dirty="0"/>
              <a:t>, </a:t>
            </a:r>
            <a:r>
              <a:rPr lang="he-IL" sz="2000" dirty="0"/>
              <a:t>ולא מקריות.</a:t>
            </a:r>
          </a:p>
          <a:p>
            <a:pPr lvl="1"/>
            <a:endParaRPr lang="he-IL" sz="2000" dirty="0"/>
          </a:p>
          <a:p>
            <a:pPr marL="285750" indent="-285750">
              <a:buFont typeface="Arial" panose="020B0604020202020204" pitchFamily="34" charset="0"/>
              <a:buChar char="•"/>
            </a:pPr>
            <a:r>
              <a:rPr lang="he-IL" sz="2000" b="1" dirty="0"/>
              <a:t>מפוקח מול לא-מפוקח: </a:t>
            </a:r>
            <a:r>
              <a:rPr lang="he-IL" sz="2000" dirty="0"/>
              <a:t>נערך ניסוי לשילוב ה-</a:t>
            </a:r>
            <a:r>
              <a:rPr lang="en-US" sz="2000" dirty="0"/>
              <a:t>Cluster ID (</a:t>
            </a:r>
            <a:r>
              <a:rPr lang="he-IL" sz="2000" dirty="0"/>
              <a:t>מ-</a:t>
            </a:r>
            <a:r>
              <a:rPr lang="en-US" sz="2000" dirty="0"/>
              <a:t>K-Means) </a:t>
            </a:r>
            <a:r>
              <a:rPr lang="he-IL" sz="2000" dirty="0"/>
              <a:t>כפיצ'ר במודל החיזוי.</a:t>
            </a:r>
          </a:p>
          <a:p>
            <a:pPr lvl="1"/>
            <a:r>
              <a:rPr lang="he-IL" sz="2000" dirty="0"/>
              <a:t>השיפור בתוצאה היה זניח (&lt;1%).</a:t>
            </a:r>
          </a:p>
          <a:p>
            <a:pPr lvl="1"/>
            <a:r>
              <a:rPr lang="he-IL" sz="2000" b="1" dirty="0"/>
              <a:t>המסקנה:</a:t>
            </a:r>
            <a:r>
              <a:rPr lang="he-IL" sz="2000" dirty="0"/>
              <a:t> מודל ה-</a:t>
            </a:r>
            <a:r>
              <a:rPr lang="en-US" sz="2000" dirty="0"/>
              <a:t>Random Forest </a:t>
            </a:r>
            <a:r>
              <a:rPr lang="he-IL" sz="2000" dirty="0"/>
              <a:t> חזק מספיק כדי ללמוד את דפוסי השוק באופן עצמאי, ללא עזרה חיצונית.</a:t>
            </a:r>
          </a:p>
          <a:p>
            <a:endParaRPr lang="he-IL" dirty="0"/>
          </a:p>
        </p:txBody>
      </p:sp>
    </p:spTree>
    <p:extLst>
      <p:ext uri="{BB962C8B-B14F-4D97-AF65-F5344CB8AC3E}">
        <p14:creationId xmlns:p14="http://schemas.microsoft.com/office/powerpoint/2010/main" val="3788829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3355B-B89B-4892-C704-9D67693CCE40}"/>
            </a:ext>
          </a:extLst>
        </p:cNvPr>
        <p:cNvGrpSpPr/>
        <p:nvPr/>
      </p:nvGrpSpPr>
      <p:grpSpPr>
        <a:xfrm>
          <a:off x="0" y="0"/>
          <a:ext cx="0" cy="0"/>
          <a:chOff x="0" y="0"/>
          <a:chExt cx="0" cy="0"/>
        </a:xfrm>
      </p:grpSpPr>
      <p:pic>
        <p:nvPicPr>
          <p:cNvPr id="5" name="תמונה 4" descr="תמונה שמכילה טקסט, צילום מסך, תרשים, מקביל&#10;&#10;תוכן בינה מלאכותית גנרטיבית עשוי להיות שגוי.">
            <a:extLst>
              <a:ext uri="{FF2B5EF4-FFF2-40B4-BE49-F238E27FC236}">
                <a16:creationId xmlns:a16="http://schemas.microsoft.com/office/drawing/2014/main" id="{94F11138-4422-E456-4542-3AE22EA68A30}"/>
              </a:ext>
            </a:extLst>
          </p:cNvPr>
          <p:cNvPicPr>
            <a:picLocks noChangeAspect="1"/>
          </p:cNvPicPr>
          <p:nvPr/>
        </p:nvPicPr>
        <p:blipFill>
          <a:blip r:embed="rId3"/>
          <a:stretch>
            <a:fillRect/>
          </a:stretch>
        </p:blipFill>
        <p:spPr>
          <a:xfrm>
            <a:off x="0" y="0"/>
            <a:ext cx="12192000" cy="6858000"/>
          </a:xfrm>
          <a:prstGeom prst="rect">
            <a:avLst/>
          </a:prstGeom>
        </p:spPr>
      </p:pic>
      <p:sp>
        <p:nvSpPr>
          <p:cNvPr id="6" name="תיבת טקסט 5">
            <a:extLst>
              <a:ext uri="{FF2B5EF4-FFF2-40B4-BE49-F238E27FC236}">
                <a16:creationId xmlns:a16="http://schemas.microsoft.com/office/drawing/2014/main" id="{BFDF3C24-86B1-C6A1-E0D3-7906919BD84B}"/>
              </a:ext>
            </a:extLst>
          </p:cNvPr>
          <p:cNvSpPr txBox="1"/>
          <p:nvPr/>
        </p:nvSpPr>
        <p:spPr>
          <a:xfrm>
            <a:off x="1" y="0"/>
            <a:ext cx="12101512" cy="6858000"/>
          </a:xfrm>
          <a:prstGeom prst="rect">
            <a:avLst/>
          </a:prstGeom>
          <a:solidFill>
            <a:srgbClr val="F2EEE8"/>
          </a:solidFill>
        </p:spPr>
        <p:txBody>
          <a:bodyPr wrap="square" rtlCol="1">
            <a:spAutoFit/>
          </a:bodyPr>
          <a:lstStyle/>
          <a:p>
            <a:endParaRPr lang="he-IL" dirty="0"/>
          </a:p>
        </p:txBody>
      </p:sp>
      <p:sp>
        <p:nvSpPr>
          <p:cNvPr id="7" name="תיבת טקסט 6">
            <a:extLst>
              <a:ext uri="{FF2B5EF4-FFF2-40B4-BE49-F238E27FC236}">
                <a16:creationId xmlns:a16="http://schemas.microsoft.com/office/drawing/2014/main" id="{BF92A640-5283-5C2B-0858-1BD1C6E994AC}"/>
              </a:ext>
            </a:extLst>
          </p:cNvPr>
          <p:cNvSpPr txBox="1"/>
          <p:nvPr/>
        </p:nvSpPr>
        <p:spPr>
          <a:xfrm>
            <a:off x="778668" y="144923"/>
            <a:ext cx="9305019" cy="646331"/>
          </a:xfrm>
          <a:prstGeom prst="rect">
            <a:avLst/>
          </a:prstGeom>
          <a:solidFill>
            <a:srgbClr val="F1F0EB"/>
          </a:solidFill>
        </p:spPr>
        <p:txBody>
          <a:bodyPr wrap="square" rtlCol="1">
            <a:spAutoFit/>
          </a:bodyPr>
          <a:lstStyle/>
          <a:p>
            <a:r>
              <a:rPr lang="he-IL" sz="3600" b="1" dirty="0">
                <a:solidFill>
                  <a:schemeClr val="tx2">
                    <a:lumMod val="75000"/>
                    <a:lumOff val="25000"/>
                  </a:schemeClr>
                </a:solidFill>
              </a:rPr>
              <a:t>תובנות מסכמות והשלכות אסטרטגיות</a:t>
            </a:r>
          </a:p>
        </p:txBody>
      </p:sp>
      <p:sp>
        <p:nvSpPr>
          <p:cNvPr id="8" name="תיבת טקסט 7">
            <a:extLst>
              <a:ext uri="{FF2B5EF4-FFF2-40B4-BE49-F238E27FC236}">
                <a16:creationId xmlns:a16="http://schemas.microsoft.com/office/drawing/2014/main" id="{F30703F4-69C4-677F-69EB-CBD46A2DFEF1}"/>
              </a:ext>
            </a:extLst>
          </p:cNvPr>
          <p:cNvSpPr txBox="1"/>
          <p:nvPr/>
        </p:nvSpPr>
        <p:spPr>
          <a:xfrm>
            <a:off x="427910" y="1185862"/>
            <a:ext cx="11336180" cy="4401205"/>
          </a:xfrm>
          <a:prstGeom prst="rect">
            <a:avLst/>
          </a:prstGeom>
          <a:noFill/>
        </p:spPr>
        <p:txBody>
          <a:bodyPr wrap="square" rtlCol="1">
            <a:spAutoFit/>
          </a:bodyPr>
          <a:lstStyle/>
          <a:p>
            <a:r>
              <a:rPr lang="he-IL" sz="2000" b="1" dirty="0"/>
              <a:t>הוכחת היתכנות: </a:t>
            </a:r>
            <a:r>
              <a:rPr lang="he-IL" sz="2000" dirty="0"/>
              <a:t>הוכחנו יכולת לחיזוי אסטרטגיית תמחור בדיוק גבוה </a:t>
            </a:r>
            <a:r>
              <a:rPr lang="en-US" sz="2000" dirty="0"/>
              <a:t>(</a:t>
            </a:r>
            <a:r>
              <a:rPr lang="en-US" sz="2000" b="1" dirty="0"/>
              <a:t>F1=0.72</a:t>
            </a:r>
            <a:r>
              <a:rPr lang="en-US" sz="2000" dirty="0"/>
              <a:t>) </a:t>
            </a:r>
            <a:r>
              <a:rPr lang="he-IL" sz="2000" dirty="0"/>
              <a:t> בהתבסס על נתונים פומביים בלבד. המעבר ממודלים ליניאריים למודלים מבוססי-עצים היה המפתח לפיצוח המורכבות בשוק.</a:t>
            </a:r>
          </a:p>
          <a:p>
            <a:pPr lvl="1"/>
            <a:endParaRPr lang="he-IL" sz="2000" dirty="0"/>
          </a:p>
          <a:p>
            <a:r>
              <a:rPr lang="he-IL" sz="2000" b="1" dirty="0"/>
              <a:t>התובנה המרכזית: </a:t>
            </a:r>
            <a:r>
              <a:rPr lang="he-IL" sz="2000" dirty="0"/>
              <a:t>ניתוח </a:t>
            </a:r>
            <a:r>
              <a:rPr lang="en-US" sz="2000" b="1" dirty="0"/>
              <a:t>SHAP</a:t>
            </a:r>
            <a:r>
              <a:rPr lang="en-US" sz="2000" dirty="0"/>
              <a:t> </a:t>
            </a:r>
            <a:r>
              <a:rPr lang="he-IL" sz="2000" dirty="0"/>
              <a:t> חשף חד-משמעית כי </a:t>
            </a:r>
            <a:r>
              <a:rPr lang="he-IL" sz="2000" b="1" dirty="0"/>
              <a:t>נתח שוק </a:t>
            </a:r>
            <a:r>
              <a:rPr lang="he-IL" sz="2000" dirty="0"/>
              <a:t>הוא המשתנה המשפיע ביותר על המחיר. </a:t>
            </a:r>
            <a:r>
              <a:rPr lang="he-IL" sz="2000" b="1" dirty="0"/>
              <a:t>המשמעות:</a:t>
            </a:r>
            <a:r>
              <a:rPr lang="he-IL" sz="2000" dirty="0"/>
              <a:t> כוח מונופוליסטי מכתיב את כללי המשחק, בעוד שמרחק, צפיפות ומשתנים נוספים משמשים כגורם מאזן בלבד.</a:t>
            </a:r>
          </a:p>
          <a:p>
            <a:pPr lvl="1"/>
            <a:endParaRPr lang="he-IL" sz="2000" dirty="0"/>
          </a:p>
          <a:p>
            <a:r>
              <a:rPr lang="he-IL" sz="2000" b="1" dirty="0"/>
              <a:t>ערך עסקי: </a:t>
            </a:r>
            <a:r>
              <a:rPr lang="he-IL" sz="2000" dirty="0"/>
              <a:t>המודל משמש ככלי תומך החלטות</a:t>
            </a:r>
            <a:r>
              <a:rPr lang="en-US" sz="2000" dirty="0"/>
              <a:t> </a:t>
            </a:r>
            <a:r>
              <a:rPr lang="he-IL" sz="2000" dirty="0"/>
              <a:t>עבור אנליסטים, ומאפשר זיהוי הזדמנויות עסקיות וניהול תשואה חכם המבוסס על כוח השוק האמיתי.</a:t>
            </a:r>
          </a:p>
          <a:p>
            <a:pPr lvl="1"/>
            <a:endParaRPr lang="he-IL" sz="2000" dirty="0"/>
          </a:p>
          <a:p>
            <a:r>
              <a:rPr lang="he-IL" sz="2000" b="1" dirty="0"/>
              <a:t>מבט לעתיד:</a:t>
            </a:r>
          </a:p>
          <a:p>
            <a:pPr marL="342900" indent="-342900">
              <a:buFont typeface="Courier New" panose="02070309020205020404" pitchFamily="49" charset="0"/>
              <a:buChar char="o"/>
            </a:pPr>
            <a:r>
              <a:rPr lang="he-IL" sz="2000" dirty="0"/>
              <a:t>מעבר מבעית סיווג לניבוי </a:t>
            </a:r>
          </a:p>
          <a:p>
            <a:pPr marL="342900" indent="-342900">
              <a:buFont typeface="Courier New" panose="02070309020205020404" pitchFamily="49" charset="0"/>
              <a:buChar char="o"/>
            </a:pPr>
            <a:r>
              <a:rPr lang="he-IL" sz="2000" dirty="0"/>
              <a:t>פער המחיר הוספת נתוני מאקרו (מחירי דלק ונתונים דמוגרפים) לשיפור הדיוק.</a:t>
            </a:r>
          </a:p>
          <a:p>
            <a:pPr marL="342900" indent="-342900">
              <a:buFont typeface="Courier New" panose="02070309020205020404" pitchFamily="49" charset="0"/>
              <a:buChar char="o"/>
            </a:pPr>
            <a:r>
              <a:rPr lang="he-IL" sz="2000" dirty="0"/>
              <a:t>ניתוח סדרות עיתיות לבחינת דינמיקת התמחור לאורך זמן</a:t>
            </a:r>
          </a:p>
        </p:txBody>
      </p:sp>
      <p:pic>
        <p:nvPicPr>
          <p:cNvPr id="3" name="תמונה 2">
            <a:extLst>
              <a:ext uri="{FF2B5EF4-FFF2-40B4-BE49-F238E27FC236}">
                <a16:creationId xmlns:a16="http://schemas.microsoft.com/office/drawing/2014/main" id="{CACB8F11-F8AA-46E2-E121-9ED43880F634}"/>
              </a:ext>
            </a:extLst>
          </p:cNvPr>
          <p:cNvPicPr>
            <a:picLocks noChangeAspect="1"/>
          </p:cNvPicPr>
          <p:nvPr/>
        </p:nvPicPr>
        <p:blipFill>
          <a:blip r:embed="rId4"/>
          <a:stretch>
            <a:fillRect/>
          </a:stretch>
        </p:blipFill>
        <p:spPr>
          <a:xfrm>
            <a:off x="1507332" y="791254"/>
            <a:ext cx="10022681" cy="147639"/>
          </a:xfrm>
          <a:prstGeom prst="rect">
            <a:avLst/>
          </a:prstGeom>
        </p:spPr>
      </p:pic>
    </p:spTree>
    <p:extLst>
      <p:ext uri="{BB962C8B-B14F-4D97-AF65-F5344CB8AC3E}">
        <p14:creationId xmlns:p14="http://schemas.microsoft.com/office/powerpoint/2010/main" val="175925569"/>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1280</TotalTime>
  <Words>1346</Words>
  <Application>Microsoft Office PowerPoint</Application>
  <PresentationFormat>מסך רחב</PresentationFormat>
  <Paragraphs>82</Paragraphs>
  <Slides>13</Slides>
  <Notes>12</Notes>
  <HiddenSlides>0</HiddenSlides>
  <MMClips>0</MMClips>
  <ScaleCrop>false</ScaleCrop>
  <HeadingPairs>
    <vt:vector size="6" baseType="variant">
      <vt:variant>
        <vt:lpstr>גופנים בשימוש</vt:lpstr>
      </vt:variant>
      <vt:variant>
        <vt:i4>5</vt:i4>
      </vt:variant>
      <vt:variant>
        <vt:lpstr>ערכת נושא</vt:lpstr>
      </vt:variant>
      <vt:variant>
        <vt:i4>1</vt:i4>
      </vt:variant>
      <vt:variant>
        <vt:lpstr>כותרות שקופיות</vt:lpstr>
      </vt:variant>
      <vt:variant>
        <vt:i4>13</vt:i4>
      </vt:variant>
    </vt:vector>
  </HeadingPairs>
  <TitlesOfParts>
    <vt:vector size="19" baseType="lpstr">
      <vt:lpstr>Aptos</vt:lpstr>
      <vt:lpstr>Aptos Display</vt:lpstr>
      <vt:lpstr>Arial</vt:lpstr>
      <vt:lpstr>Courier New</vt:lpstr>
      <vt:lpstr>Guttman Miryam</vt:lpstr>
      <vt:lpstr>ערכת נושא Office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מאיר אדרי</dc:creator>
  <cp:lastModifiedBy>מאיר אדרי</cp:lastModifiedBy>
  <cp:revision>24</cp:revision>
  <cp:lastPrinted>2026-01-08T18:09:26Z</cp:lastPrinted>
  <dcterms:created xsi:type="dcterms:W3CDTF">2026-01-07T21:36:31Z</dcterms:created>
  <dcterms:modified xsi:type="dcterms:W3CDTF">2026-01-08T21:56:51Z</dcterms:modified>
</cp:coreProperties>
</file>