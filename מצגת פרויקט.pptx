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8" r:id="rId6"/>
    <p:sldId id="261" r:id="rId7"/>
    <p:sldId id="263" r:id="rId8"/>
    <p:sldId id="264" r:id="rId9"/>
    <p:sldId id="269" r:id="rId10"/>
    <p:sldId id="275" r:id="rId11"/>
    <p:sldId id="276" r:id="rId12"/>
    <p:sldId id="273" r:id="rId13"/>
    <p:sldId id="274" r:id="rId1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EE8"/>
    <a:srgbClr val="F3F0E8"/>
    <a:srgbClr val="09183D"/>
    <a:srgbClr val="F2F1EB"/>
    <a:srgbClr val="F1F1EC"/>
    <a:srgbClr val="0C1A3C"/>
    <a:srgbClr val="F5F6F8"/>
    <a:srgbClr val="F2F1EC"/>
    <a:srgbClr val="0A183D"/>
    <a:srgbClr val="F1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94" autoAdjust="0"/>
    <p:restoredTop sz="76496" autoAdjust="0"/>
  </p:normalViewPr>
  <p:slideViewPr>
    <p:cSldViewPr snapToGrid="0">
      <p:cViewPr varScale="1">
        <p:scale>
          <a:sx n="67" d="100"/>
          <a:sy n="67" d="100"/>
        </p:scale>
        <p:origin x="101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D736377-ED1E-4FCF-B02A-5E2D15393268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5052F29-866E-46E3-83BD-D2454490092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531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4484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7529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4778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1025-5CD2-450A-2D96-7337B2E4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67A13AB-F280-D150-937D-0AEEA3A5A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759CF7FD-D55B-403A-F7AD-733FE1876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F1BA6F9-6AA2-0DBD-B2B3-E7EE23F6F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052F29-866E-46E3-83BD-D2454490092E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827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4447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8933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0782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0804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4347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36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63331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9F89-1F14-A13A-492D-3A80BE480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9D030C3-24C7-E437-5E61-6E5E0F5C7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4C73689D-D6CA-EE3D-51E9-519395335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63F9B71-4EF5-D30E-3D1E-C792C2F8D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52F29-866E-46E3-83BD-D2454490092E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802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8675ED7-04E3-83FF-7115-3A8AA16ED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0A06C92-EFE9-5BDF-286A-B064A7314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6C0584-A62A-CED1-B7C9-756B73FD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03987D-1901-A130-A18E-20E43C27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EA7B344-971F-DB30-6049-6D1A0AAF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277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FFC164-85EF-579B-6BEA-2FCAB40E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01417C-034C-F0EF-D8A5-CFAAB0F14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30F5F1-6117-CA4F-C925-D903872A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815F533-707C-41FB-05FB-622E633A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46BC3D-1198-DE37-7EB9-D48E4277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955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4C14B4-60CD-6241-7943-96932C303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84BBB19-4F4D-00A1-AD37-F6E3B4058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EA03FB5-ABBA-A4A3-34B3-D69DC649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CDE9E6-6DF5-06F4-659B-ACB46F24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662CE7C-B8DF-AAEC-4DAA-53643517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957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F346D3-7D0B-24AE-B1CF-9B734B71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0798A64-ABD6-6937-BB7D-E3E116854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9B434BD-DEAD-9FEF-2344-F4FD5A45B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2D1F46E-2C20-146A-EE9D-3288D34F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B1FA5F6-2C71-0A21-2E59-44AA4A312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5C3C7D8-A168-DA82-C8A3-0F7D685B7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450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9317D6-CD44-8F44-CC25-C7E77A51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68BCE44-C9ED-987A-EAD5-0941FBFAF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366811D-672F-3002-89D4-CDD757ABA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3FAD1BD-7081-0872-7BEB-0DFE30ED9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B86B2AB-A5CF-02B7-5384-96D99D6D2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826FCE6-8D14-9352-9FD3-A163CA7B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B2B649D-6FB2-997C-E74E-0D32A092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5EE2C2C-DC14-E95F-2D82-776DC372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18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A2C67D-09AF-6D4C-A544-D0A3B14F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A0EA3C4E-231E-3090-A7A9-C7EE9E46A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2C0B674-5085-98A5-5417-74C5DBE1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9743B2A-C37D-A9A0-3A61-D544928D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388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4608C75-AE5D-3435-C7A1-7584F18D1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5E31E73-719C-2B34-8420-79E3D593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EFF6586-7EA3-87B7-4913-43A4D4D6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721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FD896DA-A791-44C4-D5BA-D23D67CB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963376E-2FFC-6ADD-F0D4-C88ECB90A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190CAD3-24A0-E803-9FDC-CD12218EB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3AE6BC5-275E-3D7A-50C5-8E307A305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898DA96-9382-0152-7697-DD39D1E7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ADFF0E8-8C1C-8C9E-B50D-D5289216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710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2E7AC5-89E3-46CB-9C95-33537F13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8853DE7-400E-2FDE-9C4C-FBFD076C5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644F42F-2410-1214-826F-C11E9649A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366B2F-4A5D-AA91-088A-B12A8AC1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AE36543-4461-8751-8086-04A9D49FD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49416F5-16D7-BBC0-A2F2-D64AED4C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008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8986B6-04D3-3543-1891-003D8BB3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7728259-1241-90F8-E98C-26335153F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78C526F-C3BF-5B32-E70E-08B2C2E0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559E8F-E33F-818F-04C9-C06726BA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0333572-BE90-40AF-F96C-F5D57D3D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754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0677AC42-CF37-9EE6-A297-EE9C8BAA1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114BD95-CADF-F1EE-148D-48B2DB433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303B11C-6863-5F71-9E2C-D3022405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CFF441D-9157-203B-5BAC-0A6616C2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A446301-8153-7B0C-2EB1-0294C1ED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412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D392271-C554-5021-41DB-970A3F02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4902114-3036-32E4-0FD8-D35E786DF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2BA16DB-6797-66D0-5CD2-24A607A47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E3BEB-6813-43E5-B33E-820361469630}" type="datetimeFigureOut">
              <a:rPr lang="he-IL" smtClean="0"/>
              <a:t>י"ט/טבת/תשפ"ו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55AD956-65D0-F610-723E-AB1713A0C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2EF2E9-232F-8B84-3D48-D9DADBE62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1D669-C3E8-47E4-A1E6-9EE471BFCF2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711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5AF69B8-D91D-DBEA-3B79-5AB65C2A6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484" y="0"/>
            <a:ext cx="12714968" cy="6858000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2B83F0A6-02D6-6FE6-DD91-17E87AD8256C}"/>
              </a:ext>
            </a:extLst>
          </p:cNvPr>
          <p:cNvSpPr txBox="1"/>
          <p:nvPr/>
        </p:nvSpPr>
        <p:spPr>
          <a:xfrm>
            <a:off x="4491488" y="5525299"/>
            <a:ext cx="2196860" cy="461665"/>
          </a:xfrm>
          <a:prstGeom prst="rect">
            <a:avLst/>
          </a:prstGeom>
          <a:solidFill>
            <a:srgbClr val="DEDEDE"/>
          </a:solidFill>
        </p:spPr>
        <p:txBody>
          <a:bodyPr wrap="square" rtlCol="1">
            <a:spAutoFit/>
          </a:bodyPr>
          <a:lstStyle/>
          <a:p>
            <a:r>
              <a:rPr lang="he-IL" sz="2400" dirty="0"/>
              <a:t>פרופ' חן חגג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F1A0FAA-C2FD-8E4B-9BF5-A927D48AB68D}"/>
              </a:ext>
            </a:extLst>
          </p:cNvPr>
          <p:cNvSpPr txBox="1"/>
          <p:nvPr/>
        </p:nvSpPr>
        <p:spPr>
          <a:xfrm>
            <a:off x="4313208" y="5986964"/>
            <a:ext cx="894272" cy="461665"/>
          </a:xfrm>
          <a:prstGeom prst="rect">
            <a:avLst/>
          </a:prstGeom>
          <a:solidFill>
            <a:srgbClr val="DEDEDE"/>
          </a:solidFill>
        </p:spPr>
        <p:txBody>
          <a:bodyPr wrap="square" rtlCol="1">
            <a:spAutoFit/>
          </a:bodyPr>
          <a:lstStyle/>
          <a:p>
            <a:r>
              <a:rPr lang="he-IL" sz="24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46589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">
            <a:extLst>
              <a:ext uri="{FF2B5EF4-FFF2-40B4-BE49-F238E27FC236}">
                <a16:creationId xmlns:a16="http://schemas.microsoft.com/office/drawing/2014/main" id="{746F1C42-134D-55ED-3216-C0FC1D9825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9"/>
          <a:stretch>
            <a:fillRect/>
          </a:stretch>
        </p:blipFill>
        <p:spPr>
          <a:xfrm>
            <a:off x="-233748" y="-178278"/>
            <a:ext cx="12659496" cy="7036278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CCEA67E8-0A0C-A199-3148-C0D12C2D444F}"/>
              </a:ext>
            </a:extLst>
          </p:cNvPr>
          <p:cNvSpPr txBox="1"/>
          <p:nvPr/>
        </p:nvSpPr>
        <p:spPr>
          <a:xfrm>
            <a:off x="494582" y="-178278"/>
            <a:ext cx="11363863" cy="2123658"/>
          </a:xfrm>
          <a:prstGeom prst="rect">
            <a:avLst/>
          </a:prstGeom>
          <a:solidFill>
            <a:srgbClr val="F3F4F6"/>
          </a:solidFill>
        </p:spPr>
        <p:txBody>
          <a:bodyPr wrap="square" rtlCol="1">
            <a:spAutoFit/>
          </a:bodyPr>
          <a:lstStyle/>
          <a:p>
            <a:r>
              <a:rPr lang="he-IL" sz="4400" b="1" dirty="0">
                <a:solidFill>
                  <a:srgbClr val="112D53"/>
                </a:solidFill>
              </a:rPr>
              <a:t>הבעיה:</a:t>
            </a:r>
            <a:br>
              <a:rPr lang="en-US" sz="4400" b="1" dirty="0">
                <a:solidFill>
                  <a:srgbClr val="112D53"/>
                </a:solidFill>
              </a:rPr>
            </a:br>
            <a:r>
              <a:rPr lang="he-IL" sz="4400" b="1" dirty="0">
                <a:solidFill>
                  <a:srgbClr val="112D53"/>
                </a:solidFill>
              </a:rPr>
              <a:t>האם חברת התעופה הדומיננטית היא בהכרח הזולה ביותר?</a:t>
            </a:r>
            <a:endParaRPr lang="he-IL" b="1" dirty="0">
              <a:solidFill>
                <a:srgbClr val="112D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64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עיצוב">
            <a:extLst>
              <a:ext uri="{FF2B5EF4-FFF2-40B4-BE49-F238E27FC236}">
                <a16:creationId xmlns:a16="http://schemas.microsoft.com/office/drawing/2014/main" id="{4912BA9A-B0E8-6CC8-D3C4-41F924125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8605" y="-51758"/>
            <a:ext cx="12865579" cy="690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7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D40277-4F7D-ADE3-E3CF-CE43A22C8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5A61694-A96C-F7A5-8C7A-D4D0996CDEEC}"/>
              </a:ext>
            </a:extLst>
          </p:cNvPr>
          <p:cNvSpPr txBox="1"/>
          <p:nvPr/>
        </p:nvSpPr>
        <p:spPr>
          <a:xfrm>
            <a:off x="362310" y="264544"/>
            <a:ext cx="11363863" cy="769441"/>
          </a:xfrm>
          <a:prstGeom prst="rect">
            <a:avLst/>
          </a:prstGeom>
          <a:solidFill>
            <a:srgbClr val="F6F7F9"/>
          </a:solidFill>
        </p:spPr>
        <p:txBody>
          <a:bodyPr wrap="square" rtlCol="1">
            <a:spAutoFit/>
          </a:bodyPr>
          <a:lstStyle/>
          <a:p>
            <a:r>
              <a:rPr lang="he-IL" sz="4400" b="1" dirty="0">
                <a:solidFill>
                  <a:srgbClr val="112D53"/>
                </a:solidFill>
              </a:rPr>
              <a:t>מערך נתונים:</a:t>
            </a:r>
            <a:endParaRPr lang="he-IL" b="1" dirty="0">
              <a:solidFill>
                <a:srgbClr val="112D53"/>
              </a:solidFill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F6738A6B-3FBC-294B-79B8-B174287DE719}"/>
              </a:ext>
            </a:extLst>
          </p:cNvPr>
          <p:cNvSpPr txBox="1"/>
          <p:nvPr/>
        </p:nvSpPr>
        <p:spPr>
          <a:xfrm>
            <a:off x="6829427" y="3269716"/>
            <a:ext cx="1628775" cy="571500"/>
          </a:xfrm>
          <a:prstGeom prst="rect">
            <a:avLst/>
          </a:prstGeom>
          <a:solidFill>
            <a:srgbClr val="F5F6F8"/>
          </a:solidFill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pic>
        <p:nvPicPr>
          <p:cNvPr id="4" name="תמונה 3" descr="תמונה שמכילה טקסט, גופן, לב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B22174E-8A01-6A0A-3830-341230FE6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435" y="3248024"/>
            <a:ext cx="806767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45628-8772-8BA8-880D-81733C7B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רשים, מקבי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4BCC73A-7EA1-852B-2FF2-A5CDF1789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58E413BA-3230-D2DA-CF93-C25FE3761A64}"/>
              </a:ext>
            </a:extLst>
          </p:cNvPr>
          <p:cNvSpPr txBox="1"/>
          <p:nvPr/>
        </p:nvSpPr>
        <p:spPr>
          <a:xfrm>
            <a:off x="1" y="0"/>
            <a:ext cx="12101512" cy="6858000"/>
          </a:xfrm>
          <a:prstGeom prst="rect">
            <a:avLst/>
          </a:prstGeom>
          <a:solidFill>
            <a:srgbClr val="F2EEE8"/>
          </a:solidFill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F42B2D6-90DD-77D4-3A2C-A4801028DE3D}"/>
              </a:ext>
            </a:extLst>
          </p:cNvPr>
          <p:cNvSpPr txBox="1"/>
          <p:nvPr/>
        </p:nvSpPr>
        <p:spPr>
          <a:xfrm>
            <a:off x="540590" y="344948"/>
            <a:ext cx="11336180" cy="646331"/>
          </a:xfrm>
          <a:prstGeom prst="rect">
            <a:avLst/>
          </a:prstGeom>
          <a:solidFill>
            <a:srgbClr val="F2EEE8"/>
          </a:solidFill>
        </p:spPr>
        <p:txBody>
          <a:bodyPr wrap="square" rtlCol="1">
            <a:spAutoFit/>
          </a:bodyPr>
          <a:lstStyle/>
          <a:p>
            <a:r>
              <a:rPr lang="he-IL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שיטות ואלגוריתמים חלופיים: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863E7573-89BC-0422-E1E2-F561C7F107D6}"/>
              </a:ext>
            </a:extLst>
          </p:cNvPr>
          <p:cNvSpPr txBox="1"/>
          <p:nvPr/>
        </p:nvSpPr>
        <p:spPr>
          <a:xfrm>
            <a:off x="742949" y="991279"/>
            <a:ext cx="11336179" cy="48013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מאחר שהבעיה בפרויקט הוגדרה כבעיית סיווג, קיימות שיטות נוספות שניתן היה לשקול:</a:t>
            </a:r>
          </a:p>
          <a:p>
            <a:r>
              <a:rPr lang="he-IL" b="1" u="sng" dirty="0"/>
              <a:t>שיטות חלופיות נפוצות</a:t>
            </a:r>
          </a:p>
          <a:p>
            <a:r>
              <a:rPr lang="en-US" b="1" dirty="0"/>
              <a:t>AdaBoost (Adaptive Boosting)</a:t>
            </a:r>
            <a:r>
              <a:rPr lang="he-IL" b="1" dirty="0"/>
              <a:t>:</a:t>
            </a:r>
            <a:br>
              <a:rPr lang="en-US" dirty="0"/>
            </a:br>
            <a:r>
              <a:rPr lang="he-IL" dirty="0"/>
              <a:t>שיטת </a:t>
            </a:r>
            <a:r>
              <a:rPr lang="en-US" dirty="0"/>
              <a:t>Ensemble </a:t>
            </a:r>
            <a:r>
              <a:rPr lang="he-IL" dirty="0"/>
              <a:t>המתמקדת בדוגמאות קשות לסיווג באמצעות התאמת משקלים </a:t>
            </a:r>
            <a:r>
              <a:rPr lang="he-IL" dirty="0" err="1"/>
              <a:t>איטרטיבית</a:t>
            </a:r>
            <a:r>
              <a:rPr lang="he-IL" dirty="0"/>
              <a:t>. הייתה יכולה לשפר את הדיוק בזיהוי מקרים גבוליים שבהם המוביל הדומיננטי אינו הזול ביותר.</a:t>
            </a:r>
          </a:p>
          <a:p>
            <a:r>
              <a:rPr lang="he-IL" b="1" dirty="0"/>
              <a:t>רשתות נוירונים </a:t>
            </a:r>
            <a:r>
              <a:rPr lang="en-US" b="1" dirty="0"/>
              <a:t>(Neural Networks)</a:t>
            </a:r>
            <a:r>
              <a:rPr lang="he-IL" b="1" dirty="0"/>
              <a:t>:</a:t>
            </a:r>
            <a:br>
              <a:rPr lang="en-US" dirty="0"/>
            </a:br>
            <a:r>
              <a:rPr lang="he-IL" dirty="0"/>
              <a:t>מודלים לא-ליניאריים מתקדמים המסוגלים לזהות דפוסים מורכבים ואינטראקציות בין פיצ’רים. מתאימים במיוחד לנתונים מרובי משתנים, אך דורשים משאבי חישוב ונתונים בהיקף גדול יותר.</a:t>
            </a:r>
          </a:p>
          <a:p>
            <a:br>
              <a:rPr lang="he-IL" dirty="0"/>
            </a:br>
            <a:endParaRPr lang="he-IL" dirty="0"/>
          </a:p>
          <a:p>
            <a:r>
              <a:rPr lang="he-IL" b="1" u="sng" dirty="0"/>
              <a:t>מיקוד הבעיה בפרויקט</a:t>
            </a:r>
          </a:p>
          <a:p>
            <a:r>
              <a:rPr lang="he-IL" b="1" dirty="0"/>
              <a:t>חיזוי התנהגות תמחור (הנישה שלנו):</a:t>
            </a:r>
            <a:br>
              <a:rPr lang="he-IL" dirty="0"/>
            </a:br>
            <a:r>
              <a:rPr lang="he-IL" dirty="0"/>
              <a:t>האם חברת התעופה הדומיננטית היא בהכרח הזולה ביותר בקו?</a:t>
            </a:r>
          </a:p>
          <a:p>
            <a:r>
              <a:rPr lang="he-IL" dirty="0"/>
              <a:t>לעומת:</a:t>
            </a:r>
            <a:br>
              <a:rPr lang="he-IL" dirty="0"/>
            </a:br>
            <a:r>
              <a:rPr lang="he-IL" b="1" dirty="0"/>
              <a:t>חיזוי מחיר מוחלט:</a:t>
            </a:r>
            <a:br>
              <a:rPr lang="he-IL" dirty="0"/>
            </a:br>
            <a:r>
              <a:rPr lang="he-IL" dirty="0"/>
              <a:t>כמה תעלה הטיסה בפועל?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372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E7B6F4A-EA92-CE9E-D129-ED94622D7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0D79265-86AE-6E5B-84E5-32C8BF8274BD}"/>
              </a:ext>
            </a:extLst>
          </p:cNvPr>
          <p:cNvSpPr txBox="1"/>
          <p:nvPr/>
        </p:nvSpPr>
        <p:spPr>
          <a:xfrm>
            <a:off x="449339" y="1660460"/>
            <a:ext cx="5579268" cy="461665"/>
          </a:xfrm>
          <a:prstGeom prst="rect">
            <a:avLst/>
          </a:prstGeom>
          <a:solidFill>
            <a:srgbClr val="F2F1EB"/>
          </a:solidFill>
        </p:spPr>
        <p:txBody>
          <a:bodyPr wrap="square" rtlCol="1">
            <a:spAutoFit/>
          </a:bodyPr>
          <a:lstStyle/>
          <a:p>
            <a:r>
              <a:rPr lang="he-IL" sz="2400" b="1" dirty="0">
                <a:solidFill>
                  <a:srgbClr val="0C1A3C"/>
                </a:solidFill>
              </a:rPr>
              <a:t>חיזוי האם המוביל הגדול הוא הזול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794A50D-1804-0B34-767A-E172FB43D681}"/>
              </a:ext>
            </a:extLst>
          </p:cNvPr>
          <p:cNvSpPr txBox="1"/>
          <p:nvPr/>
        </p:nvSpPr>
        <p:spPr>
          <a:xfrm>
            <a:off x="6028607" y="1651813"/>
            <a:ext cx="5579268" cy="461665"/>
          </a:xfrm>
          <a:prstGeom prst="rect">
            <a:avLst/>
          </a:prstGeom>
          <a:solidFill>
            <a:srgbClr val="F2F1EB"/>
          </a:solidFill>
        </p:spPr>
        <p:txBody>
          <a:bodyPr wrap="square" rtlCol="1">
            <a:spAutoFit/>
          </a:bodyPr>
          <a:lstStyle/>
          <a:p>
            <a:r>
              <a:rPr lang="he-IL" sz="2400" b="1" dirty="0">
                <a:solidFill>
                  <a:srgbClr val="0C1A3C"/>
                </a:solidFill>
              </a:rPr>
              <a:t>הבנת מבנה השוק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2CDB70C2-76A4-F8C6-EC2A-153FB34818C6}"/>
              </a:ext>
            </a:extLst>
          </p:cNvPr>
          <p:cNvSpPr txBox="1"/>
          <p:nvPr/>
        </p:nvSpPr>
        <p:spPr>
          <a:xfrm>
            <a:off x="0" y="2079560"/>
            <a:ext cx="6095999" cy="5355312"/>
          </a:xfrm>
          <a:prstGeom prst="rect">
            <a:avLst/>
          </a:prstGeom>
          <a:solidFill>
            <a:srgbClr val="F1F1EC"/>
          </a:solidFill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Logistic Regression</a:t>
            </a:r>
            <a:r>
              <a:rPr lang="he-IL" b="1" dirty="0"/>
              <a:t>: </a:t>
            </a:r>
            <a:r>
              <a:rPr lang="he-IL" dirty="0"/>
              <a:t>מודל ליניארי בסיסי, שנבחר כ־ </a:t>
            </a:r>
            <a:r>
              <a:rPr lang="en-US" dirty="0"/>
              <a:t>Baseline </a:t>
            </a:r>
            <a:r>
              <a:rPr lang="he-IL" dirty="0"/>
              <a:t> להשוואה. מאפשר פרשנות קלה של הקשר בין הפיצ’רים לבין ההסתברות שהחברה הדומיננטית היא הזולה ביותר בקו</a:t>
            </a:r>
            <a:r>
              <a:rPr lang="en-US" dirty="0"/>
              <a:t>.</a:t>
            </a: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Random Forest</a:t>
            </a:r>
            <a:r>
              <a:rPr lang="he-IL" b="1" dirty="0"/>
              <a:t>: </a:t>
            </a:r>
            <a:r>
              <a:rPr lang="he-IL" dirty="0"/>
              <a:t>מודל אנסמבל מבוסס עצים, חזק בזיהוי </a:t>
            </a:r>
            <a:r>
              <a:rPr lang="he-IL" dirty="0" err="1"/>
              <a:t>אינטרקציות</a:t>
            </a:r>
            <a:r>
              <a:rPr lang="he-IL" dirty="0"/>
              <a:t> מורכבות. מתאים במיוחד לנתונים טבלאיים ולבעיות סיווג עם פיצ’רים מגוונים</a:t>
            </a:r>
            <a:r>
              <a:rPr lang="en-US" dirty="0"/>
              <a:t>.</a:t>
            </a: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XGBoost</a:t>
            </a:r>
            <a:r>
              <a:rPr lang="he-IL" b="1" dirty="0"/>
              <a:t>: </a:t>
            </a:r>
            <a:r>
              <a:rPr lang="he-IL" dirty="0"/>
              <a:t>מודל</a:t>
            </a:r>
            <a:r>
              <a:rPr lang="en-US" dirty="0"/>
              <a:t> Boosting </a:t>
            </a:r>
            <a:r>
              <a:rPr lang="he-IL" dirty="0"/>
              <a:t>מתקדם, שנבחר בשל יכולתו להגיע לביצועים גבוהים בבעיות סיווג מורכבות, תוך שליטה ב־</a:t>
            </a:r>
            <a:r>
              <a:rPr lang="en-US" dirty="0"/>
              <a:t>overfitting  </a:t>
            </a:r>
            <a:r>
              <a:rPr lang="he-IL" dirty="0"/>
              <a:t>באמצעות </a:t>
            </a:r>
            <a:r>
              <a:rPr lang="he-IL" dirty="0" err="1"/>
              <a:t>רגולריזציה</a:t>
            </a:r>
            <a:r>
              <a:rPr lang="en-US" dirty="0"/>
              <a:t>.</a:t>
            </a:r>
            <a:endParaRPr lang="he-IL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KNN</a:t>
            </a:r>
            <a:r>
              <a:rPr lang="he-IL" b="1" dirty="0"/>
              <a:t>: </a:t>
            </a:r>
            <a:r>
              <a:rPr lang="he-IL" dirty="0"/>
              <a:t>מודל מבוסס מרחק, הבוחן דמיון בין תצפיות. נבחר כדי לבדוק האם קיימים דפוסים מקומיים בין קווי טיסה עם מאפיינים דומים</a:t>
            </a:r>
            <a:r>
              <a:rPr lang="en-US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SVM(</a:t>
            </a:r>
            <a:r>
              <a:rPr lang="en-US" b="1" dirty="0" err="1"/>
              <a:t>LinearSVC</a:t>
            </a:r>
            <a:r>
              <a:rPr lang="en-US" b="1" dirty="0"/>
              <a:t>)</a:t>
            </a:r>
            <a:r>
              <a:rPr lang="he-IL" b="1" dirty="0"/>
              <a:t>: </a:t>
            </a:r>
            <a:r>
              <a:rPr lang="he-IL" dirty="0"/>
              <a:t>מודל מבוסס מציאת גבול החלטה אופטימלי. בחירה זו נועדה לאזן בין הצורך לבחון הפרדה גיאומטרית לבין אילוצי זמן הריצה, והיא מאפשרת אימון מהיר ויעיל גם על דאטה-סט רחב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238A2C7-E1A2-89D1-EB21-34B9B3CE0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39" y="116798"/>
            <a:ext cx="11437861" cy="966790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5F3564E2-F745-2E9B-1D4A-1239FEE17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894" y="1041023"/>
            <a:ext cx="10853767" cy="757239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595CC6F8-1DDD-BEAD-0715-81C0E7093C08}"/>
              </a:ext>
            </a:extLst>
          </p:cNvPr>
          <p:cNvSpPr txBox="1"/>
          <p:nvPr/>
        </p:nvSpPr>
        <p:spPr>
          <a:xfrm>
            <a:off x="6307932" y="2296805"/>
            <a:ext cx="5579268" cy="2862322"/>
          </a:xfrm>
          <a:prstGeom prst="rect">
            <a:avLst/>
          </a:prstGeom>
          <a:solidFill>
            <a:srgbClr val="F2F1EB"/>
          </a:solidFill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K-Means</a:t>
            </a:r>
            <a:r>
              <a:rPr lang="he-IL" dirty="0"/>
              <a:t>:</a:t>
            </a:r>
            <a:r>
              <a:rPr lang="he-IL" dirty="0" err="1"/>
              <a:t>הלזיהוי</a:t>
            </a:r>
            <a:r>
              <a:rPr lang="he-IL" dirty="0"/>
              <a:t> אב טיפוסים של קווי תעופה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DBSCAN</a:t>
            </a:r>
            <a:r>
              <a:rPr lang="he-IL" b="1" dirty="0"/>
              <a:t>: </a:t>
            </a:r>
            <a:r>
              <a:rPr lang="he-IL" dirty="0"/>
              <a:t>לזיהוי קבוצות מבוססות צפיפות ואיתור חריגות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Hierachical</a:t>
            </a:r>
            <a:r>
              <a:rPr lang="en-US" b="1" dirty="0"/>
              <a:t> </a:t>
            </a:r>
            <a:r>
              <a:rPr lang="en-US" b="1" dirty="0" err="1"/>
              <a:t>Clustrering</a:t>
            </a:r>
            <a:r>
              <a:rPr lang="he-IL" b="1" dirty="0"/>
              <a:t>: </a:t>
            </a:r>
            <a:r>
              <a:rPr lang="he-IL" dirty="0"/>
              <a:t>נבחן ונפסל עקב סיבוכיות חישובית גבוהה.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7569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8B774FE-A0E1-EB9B-6AF1-43535F853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7" name="תמונה 6" descr="תמונה שמכילה גופן, טקסט, לבן, טיפוגרפ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BE02CE2-6326-5F64-D3B1-1D39CF285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530" y="383287"/>
            <a:ext cx="5661665" cy="976875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11170AAA-D590-1945-8CEB-15F0A3A7C0E1}"/>
              </a:ext>
            </a:extLst>
          </p:cNvPr>
          <p:cNvSpPr txBox="1"/>
          <p:nvPr/>
        </p:nvSpPr>
        <p:spPr>
          <a:xfrm>
            <a:off x="397565" y="454360"/>
            <a:ext cx="6082748" cy="976875"/>
          </a:xfrm>
          <a:prstGeom prst="rect">
            <a:avLst/>
          </a:prstGeom>
          <a:solidFill>
            <a:srgbClr val="F2F1EC"/>
          </a:solidFill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8192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59E5ADB-6230-0B2E-EA30-D51871D23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264" y="0"/>
            <a:ext cx="12278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38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רשים, מקבי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60B003C-E994-235C-7C33-FDA3FA9B7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45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113649C-C293-B0DB-2D00-F2BFC5A55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1133" y="0"/>
            <a:ext cx="12554263" cy="6858000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תרשים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453E369-CED6-E544-37FE-B725B5FF1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608" y="1459687"/>
            <a:ext cx="5652392" cy="5334019"/>
          </a:xfrm>
          <a:prstGeom prst="rect">
            <a:avLst/>
          </a:prstGeom>
        </p:spPr>
      </p:pic>
      <p:pic>
        <p:nvPicPr>
          <p:cNvPr id="9" name="תמונה 8" descr="תמונה שמכילה טקסט, גופן, לבן, קליגרפ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C944369-69C0-11B1-1749-C4E38DFD4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32" y="2818795"/>
            <a:ext cx="5150656" cy="650084"/>
          </a:xfrm>
          <a:prstGeom prst="rect">
            <a:avLst/>
          </a:prstGeom>
        </p:spPr>
      </p:pic>
      <p:pic>
        <p:nvPicPr>
          <p:cNvPr id="11" name="תמונה 10" descr="תמונה שמכילה טקסט, גופן, לבן, קליגרפ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3B46A2B-74AC-E4C4-37F1-2322D4725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232" y="3544636"/>
            <a:ext cx="4769656" cy="643099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C66981D9-301B-F354-D40C-AD6D0BE46D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" y="4592084"/>
            <a:ext cx="5534038" cy="323838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E08D28B1-3ECD-F7FA-AF6C-CE1E72020AE9}"/>
              </a:ext>
            </a:extLst>
          </p:cNvPr>
          <p:cNvSpPr txBox="1"/>
          <p:nvPr/>
        </p:nvSpPr>
        <p:spPr>
          <a:xfrm>
            <a:off x="-140645" y="4187735"/>
            <a:ext cx="6039021" cy="646331"/>
          </a:xfrm>
          <a:prstGeom prst="rect">
            <a:avLst/>
          </a:prstGeom>
          <a:solidFill>
            <a:srgbClr val="F2EEE8"/>
          </a:solidFill>
        </p:spPr>
        <p:txBody>
          <a:bodyPr wrap="square" rtlCol="1">
            <a:spAutoFit/>
          </a:bodyPr>
          <a:lstStyle/>
          <a:p>
            <a:r>
              <a:rPr lang="he-IL" b="1" dirty="0">
                <a:latin typeface="Guttman Miryam" panose="02010301010101010101" pitchFamily="2" charset="-79"/>
                <a:cs typeface="Guttman Miryam" panose="02010301010101010101" pitchFamily="2" charset="-79"/>
              </a:rPr>
              <a:t>שנת הטיסה (</a:t>
            </a:r>
            <a:r>
              <a:rPr lang="en-US" b="1" dirty="0">
                <a:cs typeface="Guttman Miryam" panose="02010301010101010101" pitchFamily="2" charset="-79"/>
              </a:rPr>
              <a:t>year</a:t>
            </a:r>
            <a:r>
              <a:rPr lang="he-IL" b="1" dirty="0">
                <a:latin typeface="Guttman Miryam" panose="02010301010101010101" pitchFamily="2" charset="-79"/>
                <a:cs typeface="Guttman Miryam" panose="02010301010101010101" pitchFamily="2" charset="-79"/>
              </a:rPr>
              <a:t>): </a:t>
            </a:r>
            <a:r>
              <a:rPr lang="he-IL" dirty="0">
                <a:latin typeface="Guttman Miryam" panose="02010301010101010101" pitchFamily="2" charset="-79"/>
                <a:cs typeface="Guttman Miryam" panose="02010301010101010101" pitchFamily="2" charset="-79"/>
              </a:rPr>
              <a:t>משקפת מגמות זמן ושינויים כלליים במחירי הטיסות לאורך השנים.</a:t>
            </a:r>
          </a:p>
        </p:txBody>
      </p: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4979D805-9CEB-02BF-50B1-CBC779F462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4812394"/>
            <a:ext cx="5218527" cy="359471"/>
          </a:xfrm>
          <a:prstGeom prst="rect">
            <a:avLst/>
          </a:prstGeom>
        </p:spPr>
      </p:pic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3A604926-AF1F-DE60-306B-5BE4B1C43AB6}"/>
              </a:ext>
            </a:extLst>
          </p:cNvPr>
          <p:cNvSpPr txBox="1"/>
          <p:nvPr/>
        </p:nvSpPr>
        <p:spPr>
          <a:xfrm>
            <a:off x="5857888" y="4514846"/>
            <a:ext cx="238112" cy="315988"/>
          </a:xfrm>
          <a:prstGeom prst="rect">
            <a:avLst/>
          </a:prstGeom>
          <a:solidFill>
            <a:srgbClr val="F3F0E8"/>
          </a:solidFill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2506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8E0AAA3-8FA1-1301-4D9F-9FBC286CD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38" y="0"/>
            <a:ext cx="12238296" cy="6858000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3F69918B-A593-9C43-87EA-BF730B87029B}"/>
              </a:ext>
            </a:extLst>
          </p:cNvPr>
          <p:cNvSpPr txBox="1"/>
          <p:nvPr/>
        </p:nvSpPr>
        <p:spPr>
          <a:xfrm>
            <a:off x="328614" y="1671638"/>
            <a:ext cx="11522868" cy="5100638"/>
          </a:xfrm>
          <a:prstGeom prst="rect">
            <a:avLst/>
          </a:prstGeom>
          <a:solidFill>
            <a:srgbClr val="F3F0E8"/>
          </a:solidFill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pic>
        <p:nvPicPr>
          <p:cNvPr id="10" name="תמונה 9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CAAC7E5-C601-9428-5C10-DCBB86394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3" y="1871660"/>
            <a:ext cx="7143520" cy="4456030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E521EFC-55CF-122F-2FE8-3C3BB6549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586" y="2446707"/>
            <a:ext cx="4630584" cy="296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5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רשים, מקבי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F8837B3-589B-9921-3A9D-1DC00C49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83C8D4CA-1193-284B-22ED-275928303581}"/>
              </a:ext>
            </a:extLst>
          </p:cNvPr>
          <p:cNvSpPr txBox="1"/>
          <p:nvPr/>
        </p:nvSpPr>
        <p:spPr>
          <a:xfrm>
            <a:off x="1" y="0"/>
            <a:ext cx="12101512" cy="6858000"/>
          </a:xfrm>
          <a:prstGeom prst="rect">
            <a:avLst/>
          </a:prstGeom>
          <a:solidFill>
            <a:srgbClr val="F2EEE8"/>
          </a:solidFill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363AEB1-95DC-DD4E-CF36-503F231C883A}"/>
              </a:ext>
            </a:extLst>
          </p:cNvPr>
          <p:cNvSpPr txBox="1"/>
          <p:nvPr/>
        </p:nvSpPr>
        <p:spPr>
          <a:xfrm>
            <a:off x="540590" y="344948"/>
            <a:ext cx="11336180" cy="646331"/>
          </a:xfrm>
          <a:prstGeom prst="rect">
            <a:avLst/>
          </a:prstGeom>
          <a:solidFill>
            <a:srgbClr val="F1F0EB"/>
          </a:solidFill>
        </p:spPr>
        <p:txBody>
          <a:bodyPr wrap="square" rtlCol="1">
            <a:spAutoFit/>
          </a:bodyPr>
          <a:lstStyle/>
          <a:p>
            <a:r>
              <a:rPr lang="he-IL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השוואה וניתוח טכניקות:</a:t>
            </a:r>
            <a:endParaRPr lang="en-US" sz="3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579DEEC9-FF7A-310F-8E79-56EE0F92C099}"/>
              </a:ext>
            </a:extLst>
          </p:cNvPr>
          <p:cNvSpPr txBox="1"/>
          <p:nvPr/>
        </p:nvSpPr>
        <p:spPr>
          <a:xfrm>
            <a:off x="427910" y="1185862"/>
            <a:ext cx="11336180" cy="37548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b="1" dirty="0"/>
              <a:t>ליניארי מול לא-ליניארי: </a:t>
            </a:r>
            <a:r>
              <a:rPr lang="he-IL" sz="2000" dirty="0"/>
              <a:t>המודלים הליניאריים </a:t>
            </a:r>
            <a:r>
              <a:rPr lang="en-US" sz="2000" dirty="0"/>
              <a:t>(Logistic Regression, SVM) </a:t>
            </a:r>
            <a:r>
              <a:rPr lang="he-IL" sz="2000" dirty="0"/>
              <a:t> הגיעו ל"תקרת זכוכית" </a:t>
            </a:r>
            <a:r>
              <a:rPr lang="en-US" sz="2000" dirty="0"/>
              <a:t>(</a:t>
            </a:r>
            <a:r>
              <a:rPr lang="en-US" sz="2000" b="1" dirty="0"/>
              <a:t>F1 ~0.66</a:t>
            </a:r>
            <a:r>
              <a:rPr lang="en-US" sz="2000" dirty="0"/>
              <a:t>)</a:t>
            </a:r>
          </a:p>
          <a:p>
            <a:pPr lvl="1"/>
            <a:r>
              <a:rPr lang="he-IL" sz="2000" dirty="0"/>
              <a:t>מודלים מבוססי-עצים (</a:t>
            </a:r>
            <a:r>
              <a:rPr lang="en-US" sz="2000" dirty="0"/>
              <a:t>(RF, </a:t>
            </a:r>
            <a:r>
              <a:rPr lang="en-US" sz="2000" dirty="0" err="1"/>
              <a:t>XGBoost</a:t>
            </a:r>
            <a:r>
              <a:rPr lang="en-US" sz="2000" dirty="0"/>
              <a:t>) </a:t>
            </a:r>
            <a:r>
              <a:rPr lang="he-IL" sz="2000" dirty="0"/>
              <a:t> שברו את התקרה </a:t>
            </a:r>
            <a:r>
              <a:rPr lang="en-US" sz="2000" b="1" dirty="0"/>
              <a:t>F1 &gt; 0.72)</a:t>
            </a:r>
            <a:r>
              <a:rPr lang="he-IL" sz="2000" dirty="0"/>
              <a:t>)</a:t>
            </a:r>
            <a:endParaRPr lang="en-US" sz="2000" dirty="0"/>
          </a:p>
          <a:p>
            <a:pPr lvl="1"/>
            <a:r>
              <a:rPr lang="he-IL" sz="2000" b="1" dirty="0"/>
              <a:t>המסקנה:</a:t>
            </a:r>
            <a:r>
              <a:rPr lang="he-IL" sz="2000" dirty="0"/>
              <a:t> שוק התעופה מאופיין בקשרים מורכבים ואינטראקציות שקו ישר אינו יכול לייצג.</a:t>
            </a:r>
          </a:p>
          <a:p>
            <a:pPr lvl="1"/>
            <a:endParaRPr lang="he-I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b="1" dirty="0"/>
              <a:t>השפעת האופטימיזציה: </a:t>
            </a:r>
            <a:r>
              <a:rPr lang="he-IL" sz="2000" dirty="0"/>
              <a:t>השיפור בביצועים בין מודל הבסיס למודל המכוונן היה מינורי.</a:t>
            </a:r>
          </a:p>
          <a:p>
            <a:pPr lvl="1"/>
            <a:r>
              <a:rPr lang="he-IL" sz="2000" b="1" dirty="0"/>
              <a:t>המסקנה:</a:t>
            </a:r>
            <a:r>
              <a:rPr lang="he-IL" sz="2000" dirty="0"/>
              <a:t> המודל הגיע ל</a:t>
            </a:r>
            <a:r>
              <a:rPr lang="he-IL" sz="2000" b="1" dirty="0"/>
              <a:t>מיצוי הפוטנציאל</a:t>
            </a:r>
            <a:r>
              <a:rPr lang="he-IL" sz="2000" dirty="0"/>
              <a:t> של הנתונים </a:t>
            </a:r>
            <a:r>
              <a:rPr lang="en-US" sz="2000" dirty="0"/>
              <a:t>). </a:t>
            </a:r>
            <a:r>
              <a:rPr lang="he-IL" sz="2000" dirty="0"/>
              <a:t>תהליך הכיוונון שימש כאימות לכך שהתוצאות הגבוהות הן אמיתיות ויציבות </a:t>
            </a:r>
            <a:r>
              <a:rPr lang="en-US" sz="2000" dirty="0"/>
              <a:t>, </a:t>
            </a:r>
            <a:r>
              <a:rPr lang="he-IL" sz="2000" dirty="0"/>
              <a:t>ולא מקריות.</a:t>
            </a:r>
          </a:p>
          <a:p>
            <a:pPr lvl="1"/>
            <a:endParaRPr lang="he-I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b="1" dirty="0"/>
              <a:t>מפוקח מול לא-מפוקח: </a:t>
            </a:r>
            <a:r>
              <a:rPr lang="he-IL" sz="2000" dirty="0"/>
              <a:t>נערך ניסוי לשילוב ה-</a:t>
            </a:r>
            <a:r>
              <a:rPr lang="en-US" sz="2000" dirty="0"/>
              <a:t>Cluster ID (</a:t>
            </a:r>
            <a:r>
              <a:rPr lang="he-IL" sz="2000" dirty="0"/>
              <a:t>מ-</a:t>
            </a:r>
            <a:r>
              <a:rPr lang="en-US" sz="2000" dirty="0"/>
              <a:t>K-Means) </a:t>
            </a:r>
            <a:r>
              <a:rPr lang="he-IL" sz="2000" dirty="0"/>
              <a:t>כפיצ'ר במודל החיזוי.</a:t>
            </a:r>
          </a:p>
          <a:p>
            <a:pPr lvl="1"/>
            <a:r>
              <a:rPr lang="he-IL" sz="2000" dirty="0"/>
              <a:t>השיפור בתוצאה היה זניח (&lt;1%).</a:t>
            </a:r>
          </a:p>
          <a:p>
            <a:pPr lvl="1"/>
            <a:r>
              <a:rPr lang="he-IL" sz="2000" b="1" dirty="0"/>
              <a:t>המסקנה:</a:t>
            </a:r>
            <a:r>
              <a:rPr lang="he-IL" sz="2000" dirty="0"/>
              <a:t> מודל ה-</a:t>
            </a:r>
            <a:r>
              <a:rPr lang="en-US" sz="2000" dirty="0"/>
              <a:t>Random Forest </a:t>
            </a:r>
            <a:r>
              <a:rPr lang="he-IL" sz="2000" dirty="0"/>
              <a:t> חזק מספיק כדי ללמוד את דפוסי השוק באופן עצמאי, ללא עזרה חיצונית.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88829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355B-B89B-4892-C704-9D67693CC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תרשים, מקביל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4F11138-4422-E456-4542-3AE22EA68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BFDF3C24-86B1-C6A1-E0D3-7906919BD84B}"/>
              </a:ext>
            </a:extLst>
          </p:cNvPr>
          <p:cNvSpPr txBox="1"/>
          <p:nvPr/>
        </p:nvSpPr>
        <p:spPr>
          <a:xfrm>
            <a:off x="1" y="0"/>
            <a:ext cx="12101512" cy="6858000"/>
          </a:xfrm>
          <a:prstGeom prst="rect">
            <a:avLst/>
          </a:prstGeom>
          <a:solidFill>
            <a:srgbClr val="F2EEE8"/>
          </a:solidFill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F92A640-5283-5C2B-0858-1BD1C6E994AC}"/>
              </a:ext>
            </a:extLst>
          </p:cNvPr>
          <p:cNvSpPr txBox="1"/>
          <p:nvPr/>
        </p:nvSpPr>
        <p:spPr>
          <a:xfrm>
            <a:off x="778668" y="144923"/>
            <a:ext cx="9305019" cy="646331"/>
          </a:xfrm>
          <a:prstGeom prst="rect">
            <a:avLst/>
          </a:prstGeom>
          <a:solidFill>
            <a:srgbClr val="F1F0EB"/>
          </a:solidFill>
        </p:spPr>
        <p:txBody>
          <a:bodyPr wrap="square" rtlCol="1">
            <a:spAutoFit/>
          </a:bodyPr>
          <a:lstStyle/>
          <a:p>
            <a:r>
              <a:rPr lang="he-IL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תובנות מסכמות והשלכות אסטרטגיות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F30703F4-69C4-677F-69EB-CBD46A2DFEF1}"/>
              </a:ext>
            </a:extLst>
          </p:cNvPr>
          <p:cNvSpPr txBox="1"/>
          <p:nvPr/>
        </p:nvSpPr>
        <p:spPr>
          <a:xfrm>
            <a:off x="427910" y="1185862"/>
            <a:ext cx="11336180" cy="44012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 b="1" dirty="0"/>
              <a:t>הוכחת היתכנות: </a:t>
            </a:r>
            <a:r>
              <a:rPr lang="he-IL" sz="2000" dirty="0"/>
              <a:t>הוכחנו יכולת לחיזוי אסטרטגיית תמחור בדיוק גבוה </a:t>
            </a:r>
            <a:r>
              <a:rPr lang="en-US" sz="2000" dirty="0"/>
              <a:t>(</a:t>
            </a:r>
            <a:r>
              <a:rPr lang="en-US" sz="2000" b="1" dirty="0"/>
              <a:t>F1=0.72</a:t>
            </a:r>
            <a:r>
              <a:rPr lang="en-US" sz="2000" dirty="0"/>
              <a:t>) </a:t>
            </a:r>
            <a:r>
              <a:rPr lang="he-IL" sz="2000" dirty="0"/>
              <a:t> בהתבסס על נתונים פומביים בלבד. המעבר ממודלים ליניאריים למודלים מבוססי-עצים היה המפתח לפיצוח המורכבות בשוק.</a:t>
            </a:r>
          </a:p>
          <a:p>
            <a:pPr lvl="1"/>
            <a:endParaRPr lang="he-IL" sz="2000" dirty="0"/>
          </a:p>
          <a:p>
            <a:r>
              <a:rPr lang="he-IL" sz="2000" b="1" dirty="0"/>
              <a:t>התובנה המרכזית: </a:t>
            </a:r>
            <a:r>
              <a:rPr lang="he-IL" sz="2000" dirty="0"/>
              <a:t>ניתוח </a:t>
            </a:r>
            <a:r>
              <a:rPr lang="en-US" sz="2000" b="1" dirty="0"/>
              <a:t>SHAP</a:t>
            </a:r>
            <a:r>
              <a:rPr lang="en-US" sz="2000" dirty="0"/>
              <a:t> </a:t>
            </a:r>
            <a:r>
              <a:rPr lang="he-IL" sz="2000" dirty="0"/>
              <a:t> חשף חד-משמעית כי </a:t>
            </a:r>
            <a:r>
              <a:rPr lang="he-IL" sz="2000" b="1" dirty="0"/>
              <a:t>נתח שוק </a:t>
            </a:r>
            <a:r>
              <a:rPr lang="he-IL" sz="2000" dirty="0"/>
              <a:t>הוא המשתנה המשפיע ביותר על המחיר. </a:t>
            </a:r>
            <a:r>
              <a:rPr lang="he-IL" sz="2000" b="1" dirty="0"/>
              <a:t>המשמעות:</a:t>
            </a:r>
            <a:r>
              <a:rPr lang="he-IL" sz="2000" dirty="0"/>
              <a:t> כוח מונופוליסטי מכתיב את כללי המשחק, בעוד שמרחק, צפיפות ומשתנים נוספים משמשים כגורם מאזן בלבד.</a:t>
            </a:r>
          </a:p>
          <a:p>
            <a:pPr lvl="1"/>
            <a:endParaRPr lang="he-IL" sz="2000" dirty="0"/>
          </a:p>
          <a:p>
            <a:r>
              <a:rPr lang="he-IL" sz="2000" b="1" dirty="0"/>
              <a:t>ערך עסקי: </a:t>
            </a:r>
            <a:r>
              <a:rPr lang="he-IL" sz="2000" dirty="0"/>
              <a:t>המודל משמש ככלי תומך החלטות</a:t>
            </a:r>
            <a:r>
              <a:rPr lang="en-US" sz="2000" dirty="0"/>
              <a:t> </a:t>
            </a:r>
            <a:r>
              <a:rPr lang="he-IL" sz="2000" dirty="0"/>
              <a:t>עבור אנליסטים, ומאפשר זיהוי הזדמנויות עסקיות וניהול תשואה חכם המבוסס על כוח השוק האמיתי.</a:t>
            </a:r>
          </a:p>
          <a:p>
            <a:pPr lvl="1"/>
            <a:endParaRPr lang="he-IL" sz="2000" dirty="0"/>
          </a:p>
          <a:p>
            <a:r>
              <a:rPr lang="he-IL" sz="2000" b="1" dirty="0"/>
              <a:t>מבט לעתיד: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he-IL" sz="2000" dirty="0"/>
              <a:t>מעבר מבעית סיווג לניבוי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he-IL" sz="2000" dirty="0"/>
              <a:t>פער המחיר הוספת נתוני מאקרו (מחירי דלק ונתונים דמוגרפים) לשיפור הדיוק.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he-IL" sz="2000" dirty="0"/>
              <a:t>ניתוח סדרות עיתיות לבחינת דינמיקת התמחור לאורך זמן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ACB8F11-F8AA-46E2-E121-9ED43880F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332" y="791254"/>
            <a:ext cx="10022681" cy="14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556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601</Words>
  <Application>Microsoft Office PowerPoint</Application>
  <PresentationFormat>מסך רחב</PresentationFormat>
  <Paragraphs>62</Paragraphs>
  <Slides>13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Guttman Miryam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מאיר אדרי</dc:creator>
  <cp:lastModifiedBy>מאיר אדרי</cp:lastModifiedBy>
  <cp:revision>25</cp:revision>
  <cp:lastPrinted>2026-01-08T18:09:26Z</cp:lastPrinted>
  <dcterms:created xsi:type="dcterms:W3CDTF">2026-01-07T21:36:31Z</dcterms:created>
  <dcterms:modified xsi:type="dcterms:W3CDTF">2026-01-08T22:05:34Z</dcterms:modified>
</cp:coreProperties>
</file>